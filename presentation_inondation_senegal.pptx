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Taux d'inondation (%)</c:v>
                </c:pt>
              </c:strCache>
            </c:strRef>
          </c:tx>
          <c:spPr>
            <a:solidFill>
              <a:srgbClr val="2563A8"/>
            </a:solidFill>
            <a:effectLst/>
          </c:spPr>
          <c:invertIfNegative val="0"/>
          <c:dLbls>
            <c:numFmt formatCode="0&quot;%&quot;" sourceLinked="0"/>
            <c:txPr>
              <a:bodyPr/>
              <a:lstStyle/>
              <a:p>
                <a:pPr>
                  <a:defRPr b="0" i="0" strike="noStrike" sz="1100" u="none">
                    <a:solidFill>
                      <a:srgbClr val="16213D"/>
                    </a:solidFill>
                    <a:latin typeface="Arial"/>
                  </a:defRPr>
                </a:pPr>
              </a:p>
            </c:txPr>
            <c:showLegendKey val="0"/>
            <c:showVal val="1"/>
            <c:showCatName val="0"/>
            <c:showSerName val="0"/>
            <c:showPercent val="0"/>
            <c:showBubbleSize val="0"/>
            <c:showLeaderLines val="0"/>
          </c:dLbls>
          <c:cat>
            <c:multiLvlStrRef>
              <c:f>Sheet1!$A$2:$A$11</c:f>
              <c:multiLvlStrCache>
                <c:ptCount val="10"/>
                <c:lvl>
                  <c:pt idx="0">
                    <c:v>2015</c:v>
                  </c:pt>
                  <c:pt idx="1">
                    <c:v>2016</c:v>
                  </c:pt>
                  <c:pt idx="2">
                    <c:v>2017</c:v>
                  </c:pt>
                  <c:pt idx="3">
                    <c:v>2018</c:v>
                  </c:pt>
                  <c:pt idx="4">
                    <c:v>2019</c:v>
                  </c:pt>
                  <c:pt idx="5">
                    <c:v>2020</c:v>
                  </c:pt>
                  <c:pt idx="6">
                    <c:v>2021</c:v>
                  </c:pt>
                  <c:pt idx="7">
                    <c:v>2022</c:v>
                  </c:pt>
                  <c:pt idx="8">
                    <c:v>2023</c:v>
                  </c:pt>
                  <c:pt idx="9">
                    <c:v>2024</c:v>
                  </c:pt>
                </c:lvl>
              </c:multiLvlStrCache>
            </c:multiLvlStrRef>
          </c:cat>
          <c:val>
            <c:numRef>
              <c:f>Sheet1!$B$2:$B$11</c:f>
              <c:numCache>
                <c:formatCode>General</c:formatCode>
                <c:ptCount val="10"/>
                <c:pt idx="0">
                  <c:v>20</c:v>
                </c:pt>
                <c:pt idx="1">
                  <c:v>19</c:v>
                </c:pt>
                <c:pt idx="2">
                  <c:v>20</c:v>
                </c:pt>
                <c:pt idx="3">
                  <c:v>19</c:v>
                </c:pt>
                <c:pt idx="4">
                  <c:v>19</c:v>
                </c:pt>
                <c:pt idx="5">
                  <c:v>29</c:v>
                </c:pt>
                <c:pt idx="6">
                  <c:v>23</c:v>
                </c:pt>
                <c:pt idx="7">
                  <c:v>25</c:v>
                </c:pt>
                <c:pt idx="8">
                  <c:v>21</c:v>
                </c:pt>
                <c:pt idx="9">
                  <c:v>22</c:v>
                </c:pt>
              </c:numCache>
            </c:numRef>
          </c:val>
        </c:ser>
        <c:dLbls>
          <c:numFmt formatCode="0&quot;%&quot;" sourceLinked="0"/>
          <c:txPr>
            <a:bodyPr/>
            <a:lstStyle/>
            <a:p>
              <a:pPr>
                <a:defRPr b="0" i="0" strike="noStrike" sz="1100" u="none">
                  <a:solidFill>
                    <a:srgbClr val="162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D6B"/>
                </a:solidFill>
                <a:latin typeface="Arial"/>
              </a:defRPr>
            </a:pPr>
            <a:endParaRPr lang="en-US"/>
          </a:p>
        </c:txPr>
        <c:crossAx val="2094734552"/>
        <c:crosses val="autoZero"/>
        <c:auto val="1"/>
        <c:lblAlgn val="ctr"/>
        <c:noMultiLvlLbl val="1"/>
      </c:catAx>
      <c:valAx>
        <c:axId val="2094734552"/>
        <c:scaling>
          <c:orientation val="minMax"/>
          <c:max val="35"/>
        </c:scaling>
        <c:delete val="0"/>
        <c:axPos val="l"/>
        <c:majorGridlines>
          <c:spPr>
            <a:ln w="6350" cap="flat">
              <a:solidFill>
                <a:srgbClr val="E3E6E4"/>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D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Bineta Camara. Je vais vous présenter mon projet de machine learning sur la prédiction et la cartographie des risques d'inondation au Sénégal. L'objectif est de construire un modèle capable d'anticiper les zones qui risquent d'être inondées pendant l'hivernage, à partir de 425 zones réparties dans 38 localités, et de dix années d'observations, de 2015 à 2024. Ce travail s'appuie sur des données fournies pour ce projet, avec l'idée de fournir un outil utile à des acteurs comme l'ONAS, la Protection civile, les collectivités territoriales et la DPGI, pour cibler leurs actions avant que la saison des pluies ne cause des dégâts.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année, les inondations touchent durement le Sénégal. On pense d'abord à la banlieue de Dakar : Pikine, Guédiawaye, Keur Massar, Yeumbeul. Mais le phénomène touche aussi Touba, Kaolack, Saint-Louis ou Ziguinchor. Plusieurs causes se combinent : l'urbanisation des zones basses et des Niayes, la remontée de la nappe phréatique, un réseau d'assainissement souvent insuffisant, et des épisodes de pluie de plus en plus extrêmes. Dans nos données, en moyenne 21,6 % des zones sont inondées à chaque hivernage, sur la période 2015-2024. C'est un taux élevé, qui justifie qu'on cherche à anticiper plutôt qu'à subir. Si l'on sait à l'avance quelles zones sont les plus exposées, on peut cibler le pompage, le curage des canaux et l'alerte des populations avant que la saison des pluies ne commence.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L'objectif du projet est double. D'abord, prédire la probabilité qu'une zone soit inondée pendant l'hivernage, à partir de ses caractéristiques physiques, urbaines et pluviométriques. Ensuite, transformer ces prédictions en une carte de risque, avec quatre niveaux : faible, modéré, élevé et très élevé, à l'échelle du pays et avec un zoom sur la banlieue de Dakar. Sur le plan technique, c'est un problème de classification binaire supervisée : la zone est inondée, ou elle ne l'est pas. Un point important pour la suite : un faux négatif, c'est-à-dire une zone inondée qu'on n'a pas anticipée, coûte beaucoup plus cher qu'une fausse alerte. C'est pour cela que le rappel, c'est-à-dire la capacité à détecter les vraies inondations, est la métrique la plus importante, avec un objectif d'au moins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repose sur deux fichiers reliés par un identifiant commun, zone_id. Le premier fichier décrit 425 zones géolocalisées dans 38 localités et 14 régions : altitude, pente, type de sol, occupation du sol, taux d'imperméabilisation, densité de population, réseau d'assainissement, profondeur de la nappe et historique des inondations entre 2005 et 2014. Le second fichier contient les observations de chaque zone pour chaque hivernage, de 2015 à 2024 : la pluviométrie, la hauteur de crue du fleuve, et surtout la variable cible, à savoir si la zone a été inondée cette année-là. Ces données sont entièrement synthétiques, à visée pédagogique.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modéliser, j'ai dû nettoyer les données, et j'ai identifié six familles de problèmes. Sept zones avaient une altitude à moins 9999, ce qui signale une donnée satellite manquante : je les ai corrigées par la médiane locale. Quatre zones avaient des coordonnées inversées, hors du territoire sénégalais : j'ai permuté latitude et longitude. Certaines localités étaient écrites de deux façons différentes, comme Guediawaye et Guédiawaye : je les ai fusionnées. Il y avait aussi des valeurs manquantes, entre 3 et 16 % selon les variables, imputées par médiane ou par mode. J'ai supprimé 25 observations dupliquées. Et j'ai vérifié qu'il n'y avait pas d'incohérence entre l'inondation et la durée de submersion, avant d'exclure cette dernière variable, car elle révélait directement le résultat. Au final, j'obtiens 425 zones et 4250 observations valides.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L'exploration des données confirme le déséquilibre de classes : 21,6 % de taux d'inondation en moyenne. Mais un hivernage se détache nettement : 2020, avec 29 % de zones inondées, contre 19 à 25 % les autres années. C'est cohérent avec une anomalie pluviométrique déjà documentée pour cette année-là. Si on regarde par type d'occupation du sol, les zones humides, les Niayes et les bas-fonds, ainsi que l'urbain dense, dépassent 27 % de taux d'inondation, alors que les zones agricoles et de végétation naturelle restent sous 11 %. Cela confirme que l'occupation du sol est un facteur de risque important, avant même de construire un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évaluer le modèle sans se tromper, j'ai mis en place deux garde-fous. Le premier est une validation temporelle : les années 2015 à 2023 servent à l'entraînement, et l'année 2024, jamais vue par le modèle, sert de test. C'est le scénario le plus réaliste, puisqu'en pratique, on cherche toujours à prédire une année future à partir du passé. Le second garde-fou est une validation spatiale, avec un GroupKFold à 5 blocs, groupé par région. Cela évite que des zones voisines, dans la même région, se retrouvent à la fois dans l'entraînement et dans la validation, ce qui gonflerait artificiellement la performance à cause de l'autocorrélation spatiale. J'ai aussi construit plusieurs variables, comme un indicateur de zone basse, un indice combinant pluie et imperméabilisation, et un score d'assainissement, pour aider le modèle à capter les mécanismes physiques du risque.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comparé trois algorithmes : la régression logistique, la Random Forest et le Gradient Boosting, tous pondérés pour compenser le déséquilibre des classes, puisque seulement 22 % des observations correspondent à une inondation. En validation croisée, les trois modèles obtiennent une AUC comparable, autour de 0,82 à 0,83. Sur le test temporel de 2024, après avoir ajusté le seuil de décision pour atteindre un rappel d'au moins 80 %, la régression logistique se distingue : elle atteint un rappel de 90,4 %, avec une précision de 40,5 % et une AUC de 0,858, ce qui est le meilleur résultat des trois modèles. J'ai donc retenu la régression logistique comme modèle final. Elle offre la meilleure performance, tout en restant directement interprétable grâce à ses coefficients, ce qui est un vrai atout pour expliquer les décisions à des acteurs qui ne sont pas spécialistes du machine learning. À son seuil ajusté de 0,40, elle détecte 90 % des zones réellement inondées en 2024, au prix de davantage de fausses alertes, un compromis assumé compte tenu du coût des 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d'importance des variables, avec la Random Forest, confirme que le modèle a appris des relations physiquement cohérentes. Les facteurs qui aggravent le risque sont l'historique des inondations entre 2005 et 2014, qui est le facteur le plus stable dans le temps, la pluie extrême sur 24 et 72 heures, l'indice combinant pluie et imperméabilisation, une nappe phréatique proche de la surface, et le fait d'être dans une zone basse par rapport à sa localité. À l'inverse, certains facteurs protègent : une altitude plus élevée, un assainissement complet, une pente plus marquée, et l'éloignement par rapport à un plan d'eau. Ces résultats correspondent bien à ce que l'on sait du terrain, ce qui renforce la confiance qu'on peut avoir dans le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rendre ces résultats concrets, j'ai appliqué le modèle à un scénario de pluie extrême : 120 millimètres en 24 heures, ce qui correspond au 99e centile des valeurs historiques, un événement réellement exceptionnel. Sous ce scénario, la probabilité moyenne d'inondation bascule de 21,6 % en climat normal à 84 % : 330 des 425 zones, soit 78 %, passent en catégorie très élevée. Ce n'est pas un défaut du modèle, mais le message attendu d'un stress-test : la vulnérabilité structurelle du territoire devient critique dès qu'un épisode dépasse largement les normales. J'ai classé les zones en quatre niveaux de risque, faible, modéré, élevé et très élevé, et j'ai construit deux cartes interactives, une carte nationale et un zoom sur la banlieue de Dakar, avec des info-bulles indiquant la localité, la probabilité et le facteur dominant.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le scénario extrême fait basculer beaucoup de zones dans la même catégorie, j'ai aussi classé les localités en continu, par probabilité moyenne, pour prioriser l'action. En tête du classement, sur 38 localités, on retrouve Saint-Louis, Malika, Matam, Podor, Keur Massar, Yeumbeul, Kaolack et Guédiawaye, toutes au-dessus de 93 % de probabilité moyenne sous ce scénario. On voit que la vallée du fleuve Sénégal, avec Saint-Louis, Podor, Matam, et la banlieue de Dakar, avec Malika, Keur Massar, Yeumbeul, Guédiawaye, concentrent les priorités. C'est cette liste complète, disponible en annexe, qui doit guider les décisions d'investissement à court terme.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de ces résultats, je propose six recommandations opérationnelles. Premièrement, un curage préventif des canaux et des bassins de rétention dans les localités en tête de classement, avant chaque hivernage. Deuxièmement, un pompage renforcé dans les zones humides et les zones basses relatives, là où l'assainissement est absent ou partiel. Troisièmement, un encadrement plus strict de la construction dans les zones basses à nappe peu profonde et à fort historique d'inondation, car ce sont les facteurs les plus stables, donc les moins réversibles à court terme. Quatrièmement, une alerte précoce par SMS, en lien avec l'ANACIM et les opérateurs, dès que les prévisions annoncent une pluie proche du seuil extrême. Cinquièmement, l'extension du réseau d'assainissement, qui est le levier d'action publique le plus direct identifié par le modèle comme facteur protecteur. Et enfin, une mise à jour du modèle avec des données réelles, avant tout usage opérationnel, car je le rappelle, les données utilisées ici sont entièrement synthétiques.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aller plus loin, je vois trois pistes concrètes. La première est de remplacer les données synthétiques par des données réelles : les pluies mesurées par CHIRPS, le relief avec SRTM, l'occupation du sol via OpenStreetMap, et les inondations passées via Copernicus EMS. La deuxième piste est de détecter automatiquement les surfaces inondées sur des images satellite Sentinel-1, ce qui permettrait de valider et d'enrichir le modèle avec des observations réelles. La troisième est de construire un tableau de bord d'alerte, par exemple avec Streamlit, alimenté en direct par les prévisions météo de l'ANACIM, pour transformer ce prototype en outil opérationnel.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projet montre qu'un modèle simple et interprétable peut déjà donner des pistes utiles pour anticiper les inondations au Sénégal, même si les données restent synthétiques et si le scénario extrême doit être lu comme un classement relatif plutôt qu'une fréquence exacte. Je vous remercie de votre attention, et je suis prête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640080" y="640080"/>
            <a:ext cx="10515600" cy="365760"/>
          </a:xfrm>
          <a:prstGeom prst="rect">
            <a:avLst/>
          </a:prstGeom>
          <a:noFill/>
          <a:ln/>
        </p:spPr>
        <p:txBody>
          <a:bodyPr wrap="square" rtlCol="0" anchor="ctr"/>
          <a:lstStyle/>
          <a:p>
            <a:pPr indent="0" marL="0">
              <a:buNone/>
            </a:pPr>
            <a:r>
              <a:rPr lang="en-US" sz="1300" b="1" spc="200" kern="0" dirty="0">
                <a:solidFill>
                  <a:srgbClr val="7FB2E8"/>
                </a:solidFill>
                <a:latin typeface="Calibri" pitchFamily="34" charset="0"/>
                <a:ea typeface="Calibri" pitchFamily="34" charset="-122"/>
                <a:cs typeface="Calibri" pitchFamily="34" charset="-120"/>
              </a:rPr>
              <a:t>PROJET MACHINE LEARNING — SECTEUR ENVIRONNEMENT</a:t>
            </a:r>
            <a:endParaRPr lang="en-US" sz="1300" dirty="0"/>
          </a:p>
        </p:txBody>
      </p:sp>
      <p:sp>
        <p:nvSpPr>
          <p:cNvPr id="3" name="Text 1"/>
          <p:cNvSpPr/>
          <p:nvPr/>
        </p:nvSpPr>
        <p:spPr>
          <a:xfrm>
            <a:off x="640080" y="1371600"/>
            <a:ext cx="10515600" cy="219456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Prédiction et cartographie des risques</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d'inondation au Sénégal</a:t>
            </a:r>
            <a:endParaRPr lang="en-US" sz="4000" dirty="0"/>
          </a:p>
        </p:txBody>
      </p:sp>
      <p:sp>
        <p:nvSpPr>
          <p:cNvPr id="4" name="Text 2"/>
          <p:cNvSpPr/>
          <p:nvPr/>
        </p:nvSpPr>
        <p:spPr>
          <a:xfrm>
            <a:off x="640080" y="3566160"/>
            <a:ext cx="8686800" cy="914400"/>
          </a:xfrm>
          <a:prstGeom prst="rect">
            <a:avLst/>
          </a:prstGeom>
          <a:noFill/>
          <a:ln/>
        </p:spPr>
        <p:txBody>
          <a:bodyPr wrap="square" rtlCol="0" anchor="ctr"/>
          <a:lstStyle/>
          <a:p>
            <a:pPr indent="0" marL="0">
              <a:lnSpc>
                <a:spcPts val="2200"/>
              </a:lnSpc>
              <a:buNone/>
            </a:pPr>
            <a:r>
              <a:rPr lang="en-US" sz="1600" dirty="0">
                <a:solidFill>
                  <a:srgbClr val="AAB6C6"/>
                </a:solidFill>
                <a:latin typeface="Calibri" pitchFamily="34" charset="0"/>
                <a:ea typeface="Calibri" pitchFamily="34" charset="-122"/>
                <a:cs typeface="Calibri" pitchFamily="34" charset="-120"/>
              </a:rPr>
              <a:t>Un modèle de classification pour anticiper les zones inondables et cibler les actions de l'ONAS, de la Protection civile et des collectivités.</a:t>
            </a:r>
            <a:endParaRPr lang="en-US" sz="1600" dirty="0"/>
          </a:p>
        </p:txBody>
      </p:sp>
      <p:sp>
        <p:nvSpPr>
          <p:cNvPr id="5" name="Text 3"/>
          <p:cNvSpPr/>
          <p:nvPr/>
        </p:nvSpPr>
        <p:spPr>
          <a:xfrm>
            <a:off x="640080" y="6126480"/>
            <a:ext cx="5486400" cy="365760"/>
          </a:xfrm>
          <a:prstGeom prst="rect">
            <a:avLst/>
          </a:prstGeom>
          <a:noFill/>
          <a:ln/>
        </p:spPr>
        <p:txBody>
          <a:bodyPr wrap="square" rtlCol="0" anchor="ctr"/>
          <a:lstStyle/>
          <a:p>
            <a:pPr indent="0" marL="0">
              <a:buNone/>
            </a:pPr>
            <a:r>
              <a:rPr lang="en-US" sz="1200" dirty="0">
                <a:solidFill>
                  <a:srgbClr val="AAB6C6"/>
                </a:solidFill>
                <a:latin typeface="Calibri" pitchFamily="34" charset="0"/>
                <a:ea typeface="Calibri" pitchFamily="34" charset="-122"/>
                <a:cs typeface="Calibri" pitchFamily="34" charset="-120"/>
              </a:rPr>
              <a:t>425 zones · 38 localités · hivernages 2015-2024</a:t>
            </a:r>
            <a:endParaRPr lang="en-US" sz="1200" dirty="0"/>
          </a:p>
        </p:txBody>
      </p:sp>
      <p:sp>
        <p:nvSpPr>
          <p:cNvPr id="6" name="Text 4"/>
          <p:cNvSpPr/>
          <p:nvPr/>
        </p:nvSpPr>
        <p:spPr>
          <a:xfrm>
            <a:off x="8046720" y="6126480"/>
            <a:ext cx="3474720" cy="365760"/>
          </a:xfrm>
          <a:prstGeom prst="rect">
            <a:avLst/>
          </a:prstGeom>
          <a:noFill/>
          <a:ln/>
        </p:spPr>
        <p:txBody>
          <a:bodyPr wrap="square" rtlCol="0" anchor="ctr"/>
          <a:lstStyle/>
          <a:p>
            <a:pPr algn="r" indent="0" marL="0">
              <a:buNone/>
            </a:pPr>
            <a:r>
              <a:rPr lang="en-US" sz="1200" dirty="0">
                <a:solidFill>
                  <a:srgbClr val="AAB6C6"/>
                </a:solidFill>
                <a:latin typeface="Calibri" pitchFamily="34" charset="0"/>
                <a:ea typeface="Calibri" pitchFamily="34" charset="-122"/>
                <a:cs typeface="Calibri" pitchFamily="34" charset="-120"/>
              </a:rPr>
              <a:t>Bineta Camara · Septembre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CONTEXTE</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Un enjeu qui revient chaque hivernage</a:t>
            </a:r>
            <a:endParaRPr lang="en-US" sz="3000" dirty="0"/>
          </a:p>
        </p:txBody>
      </p:sp>
      <p:sp>
        <p:nvSpPr>
          <p:cNvPr id="4" name="Text 2"/>
          <p:cNvSpPr/>
          <p:nvPr/>
        </p:nvSpPr>
        <p:spPr>
          <a:xfrm>
            <a:off x="548640" y="1828800"/>
            <a:ext cx="6675120" cy="3474720"/>
          </a:xfrm>
          <a:prstGeom prst="rect">
            <a:avLst/>
          </a:prstGeom>
          <a:noFill/>
          <a:ln/>
        </p:spPr>
        <p:txBody>
          <a:bodyPr wrap="square" rtlCol="0" anchor="t"/>
          <a:lstStyle/>
          <a:p>
            <a:pPr indent="0" marL="0">
              <a:lnSpc>
                <a:spcPts val="2400"/>
              </a:lnSpc>
              <a:buNone/>
            </a:pPr>
            <a:r>
              <a:rPr lang="en-US" sz="1600" dirty="0">
                <a:solidFill>
                  <a:srgbClr val="16213D"/>
                </a:solidFill>
                <a:latin typeface="Calibri" pitchFamily="34" charset="0"/>
                <a:ea typeface="Calibri" pitchFamily="34" charset="-122"/>
                <a:cs typeface="Calibri" pitchFamily="34" charset="-120"/>
              </a:rPr>
              <a:t>Pikine, Guédiawaye, Keur Massar, Yeumbeul, mais aussi Touba, Kaolack, Saint-Louis ou Ziguinchor : l'urbanisation des zones basses et des Niayes, la remontée de la nappe phréatique, l'assainissement insuffisant et les pluies extrêmes exposent le pays chaque année.
</a:t>
            </a:r>
            <a:pPr indent="0" marL="0">
              <a:lnSpc>
                <a:spcPts val="2400"/>
              </a:lnSpc>
              <a:buNone/>
            </a:pPr>
            <a:r>
              <a:rPr lang="en-US" sz="1600" dirty="0">
                <a:solidFill>
                  <a:srgbClr val="525D6B"/>
                </a:solidFill>
                <a:latin typeface="Calibri" pitchFamily="34" charset="0"/>
                <a:ea typeface="Calibri" pitchFamily="34" charset="-122"/>
                <a:cs typeface="Calibri" pitchFamily="34" charset="-120"/>
              </a:rPr>
              <a:t>Anticiper ces zones permet de cibler les pompages, le curage des canaux et l'alerte des populations avant la saison des pluies.</a:t>
            </a:r>
            <a:endParaRPr lang="en-US" sz="1600" dirty="0"/>
          </a:p>
        </p:txBody>
      </p:sp>
      <p:sp>
        <p:nvSpPr>
          <p:cNvPr id="5" name="Shape 3"/>
          <p:cNvSpPr/>
          <p:nvPr/>
        </p:nvSpPr>
        <p:spPr>
          <a:xfrm>
            <a:off x="7589520" y="1828800"/>
            <a:ext cx="4023360" cy="2743200"/>
          </a:xfrm>
          <a:prstGeom prst="roundRect">
            <a:avLst>
              <a:gd name="adj" fmla="val 4000"/>
            </a:avLst>
          </a:prstGeom>
          <a:solidFill>
            <a:srgbClr val="FFFFFF"/>
          </a:solidFill>
          <a:ln w="12700">
            <a:solidFill>
              <a:srgbClr val="E3E6E4"/>
            </a:solidFill>
            <a:prstDash val="solid"/>
          </a:ln>
        </p:spPr>
      </p:sp>
      <p:sp>
        <p:nvSpPr>
          <p:cNvPr id="6" name="Text 4"/>
          <p:cNvSpPr/>
          <p:nvPr/>
        </p:nvSpPr>
        <p:spPr>
          <a:xfrm>
            <a:off x="7589520" y="2103120"/>
            <a:ext cx="4023360" cy="1188720"/>
          </a:xfrm>
          <a:prstGeom prst="rect">
            <a:avLst/>
          </a:prstGeom>
          <a:noFill/>
          <a:ln/>
        </p:spPr>
        <p:txBody>
          <a:bodyPr wrap="square" rtlCol="0" anchor="ctr"/>
          <a:lstStyle/>
          <a:p>
            <a:pPr algn="ctr" indent="0" marL="0">
              <a:buNone/>
            </a:pPr>
            <a:r>
              <a:rPr lang="en-US" sz="5400" b="1" dirty="0">
                <a:solidFill>
                  <a:srgbClr val="2563A8"/>
                </a:solidFill>
                <a:latin typeface="Cambria" pitchFamily="34" charset="0"/>
                <a:ea typeface="Cambria" pitchFamily="34" charset="-122"/>
                <a:cs typeface="Cambria" pitchFamily="34" charset="-120"/>
              </a:rPr>
              <a:t>21,6 %</a:t>
            </a:r>
            <a:endParaRPr lang="en-US" sz="5400" dirty="0"/>
          </a:p>
        </p:txBody>
      </p:sp>
      <p:sp>
        <p:nvSpPr>
          <p:cNvPr id="7" name="Text 5"/>
          <p:cNvSpPr/>
          <p:nvPr/>
        </p:nvSpPr>
        <p:spPr>
          <a:xfrm>
            <a:off x="7863840" y="3291840"/>
            <a:ext cx="3474720" cy="1005840"/>
          </a:xfrm>
          <a:prstGeom prst="rect">
            <a:avLst/>
          </a:prstGeom>
          <a:noFill/>
          <a:ln/>
        </p:spPr>
        <p:txBody>
          <a:bodyPr wrap="square" rtlCol="0" anchor="ctr"/>
          <a:lstStyle/>
          <a:p>
            <a:pPr algn="ctr" indent="0" marL="0">
              <a:buNone/>
            </a:pPr>
            <a:r>
              <a:rPr lang="en-US" sz="1300" dirty="0">
                <a:solidFill>
                  <a:srgbClr val="525D6B"/>
                </a:solidFill>
                <a:latin typeface="Calibri" pitchFamily="34" charset="0"/>
                <a:ea typeface="Calibri" pitchFamily="34" charset="-122"/>
                <a:cs typeface="Calibri" pitchFamily="34" charset="-120"/>
              </a:rPr>
              <a:t>des zones inondées en moyenne chaque hivernage (2015-2024)</a:t>
            </a:r>
            <a:endParaRPr lang="en-US" sz="1300" dirty="0"/>
          </a:p>
        </p:txBody>
      </p:sp>
      <p:sp>
        <p:nvSpPr>
          <p:cNvPr id="8" name="Text 6"/>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2 / 14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OBJECTIF ET CADRAGE</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Prédire, puis cartographier le risque</a:t>
            </a:r>
            <a:endParaRPr lang="en-US" sz="3000" dirty="0"/>
          </a:p>
        </p:txBody>
      </p:sp>
      <p:sp>
        <p:nvSpPr>
          <p:cNvPr id="4" name="Text 2"/>
          <p:cNvSpPr/>
          <p:nvPr/>
        </p:nvSpPr>
        <p:spPr>
          <a:xfrm>
            <a:off x="548640" y="1737360"/>
            <a:ext cx="10698480" cy="822960"/>
          </a:xfrm>
          <a:prstGeom prst="rect">
            <a:avLst/>
          </a:prstGeom>
          <a:noFill/>
          <a:ln/>
        </p:spPr>
        <p:txBody>
          <a:bodyPr wrap="square" rtlCol="0" anchor="ctr"/>
          <a:lstStyle/>
          <a:p>
            <a:pPr indent="0" marL="0">
              <a:lnSpc>
                <a:spcPts val="2200"/>
              </a:lnSpc>
              <a:buNone/>
            </a:pPr>
            <a:r>
              <a:rPr lang="en-US" sz="1600" dirty="0">
                <a:solidFill>
                  <a:srgbClr val="16213D"/>
                </a:solidFill>
                <a:latin typeface="Calibri" pitchFamily="34" charset="0"/>
                <a:ea typeface="Calibri" pitchFamily="34" charset="-122"/>
                <a:cs typeface="Calibri" pitchFamily="34" charset="-120"/>
              </a:rPr>
              <a:t>Estimer la probabilité qu'une zone soit inondée pendant l'hivernage — puis classer les zones en 4 niveaux de risque sur une carte, à l'échelle nationale et pour la banlieue de Dakar.</a:t>
            </a:r>
            <a:endParaRPr lang="en-US" sz="1600" dirty="0"/>
          </a:p>
        </p:txBody>
      </p:sp>
      <p:sp>
        <p:nvSpPr>
          <p:cNvPr id="5" name="Shape 3"/>
          <p:cNvSpPr/>
          <p:nvPr/>
        </p:nvSpPr>
        <p:spPr>
          <a:xfrm>
            <a:off x="548640" y="2743200"/>
            <a:ext cx="5120640" cy="2743200"/>
          </a:xfrm>
          <a:prstGeom prst="roundRect">
            <a:avLst>
              <a:gd name="adj" fmla="val 3333"/>
            </a:avLst>
          </a:prstGeom>
          <a:solidFill>
            <a:srgbClr val="FFFFFF"/>
          </a:solidFill>
          <a:ln w="12700">
            <a:solidFill>
              <a:srgbClr val="E3E6E4"/>
            </a:solidFill>
            <a:prstDash val="solid"/>
          </a:ln>
        </p:spPr>
      </p:sp>
      <p:sp>
        <p:nvSpPr>
          <p:cNvPr id="6" name="Text 4"/>
          <p:cNvSpPr/>
          <p:nvPr/>
        </p:nvSpPr>
        <p:spPr>
          <a:xfrm>
            <a:off x="914400" y="3017520"/>
            <a:ext cx="4389120" cy="457200"/>
          </a:xfrm>
          <a:prstGeom prst="rect">
            <a:avLst/>
          </a:prstGeom>
          <a:noFill/>
          <a:ln/>
        </p:spPr>
        <p:txBody>
          <a:bodyPr wrap="square" rtlCol="0" anchor="ctr"/>
          <a:lstStyle/>
          <a:p>
            <a:pPr indent="0" marL="0">
              <a:buNone/>
            </a:pPr>
            <a:r>
              <a:rPr lang="en-US" sz="1800" b="1" dirty="0">
                <a:solidFill>
                  <a:srgbClr val="2563A8"/>
                </a:solidFill>
                <a:latin typeface="Cambria" pitchFamily="34" charset="0"/>
                <a:ea typeface="Cambria" pitchFamily="34" charset="-122"/>
                <a:cs typeface="Cambria" pitchFamily="34" charset="-120"/>
              </a:rPr>
              <a:t>Type de problème</a:t>
            </a:r>
            <a:endParaRPr lang="en-US" sz="1800" dirty="0"/>
          </a:p>
        </p:txBody>
      </p:sp>
      <p:sp>
        <p:nvSpPr>
          <p:cNvPr id="7" name="Text 5"/>
          <p:cNvSpPr/>
          <p:nvPr/>
        </p:nvSpPr>
        <p:spPr>
          <a:xfrm>
            <a:off x="914400" y="3566160"/>
            <a:ext cx="4389120" cy="1645920"/>
          </a:xfrm>
          <a:prstGeom prst="rect">
            <a:avLst/>
          </a:prstGeom>
          <a:noFill/>
          <a:ln/>
        </p:spPr>
        <p:txBody>
          <a:bodyPr wrap="square" rtlCol="0" anchor="ctr"/>
          <a:lstStyle/>
          <a:p>
            <a:pPr indent="0" marL="0">
              <a:lnSpc>
                <a:spcPts val="2000"/>
              </a:lnSpc>
              <a:buNone/>
            </a:pPr>
            <a:r>
              <a:rPr lang="en-US" sz="1400" dirty="0">
                <a:solidFill>
                  <a:srgbClr val="525D6B"/>
                </a:solidFill>
                <a:latin typeface="Calibri" pitchFamily="34" charset="0"/>
                <a:ea typeface="Calibri" pitchFamily="34" charset="-122"/>
                <a:cs typeface="Calibri" pitchFamily="34" charset="-120"/>
              </a:rPr>
              <a:t>Classification binaire supervisée (inondation oui/non) + analyse spatiale</a:t>
            </a:r>
            <a:endParaRPr lang="en-US" sz="1400" dirty="0"/>
          </a:p>
        </p:txBody>
      </p:sp>
      <p:sp>
        <p:nvSpPr>
          <p:cNvPr id="8" name="Shape 6"/>
          <p:cNvSpPr/>
          <p:nvPr/>
        </p:nvSpPr>
        <p:spPr>
          <a:xfrm>
            <a:off x="5943600" y="2743200"/>
            <a:ext cx="5669280" cy="2743200"/>
          </a:xfrm>
          <a:prstGeom prst="roundRect">
            <a:avLst>
              <a:gd name="adj" fmla="val 3333"/>
            </a:avLst>
          </a:prstGeom>
          <a:solidFill>
            <a:srgbClr val="FFFFFF"/>
          </a:solidFill>
          <a:ln w="12700">
            <a:solidFill>
              <a:srgbClr val="E3E6E4"/>
            </a:solidFill>
            <a:prstDash val="solid"/>
          </a:ln>
        </p:spPr>
      </p:sp>
      <p:sp>
        <p:nvSpPr>
          <p:cNvPr id="9" name="Text 7"/>
          <p:cNvSpPr/>
          <p:nvPr/>
        </p:nvSpPr>
        <p:spPr>
          <a:xfrm>
            <a:off x="6309360" y="3017520"/>
            <a:ext cx="4937760" cy="457200"/>
          </a:xfrm>
          <a:prstGeom prst="rect">
            <a:avLst/>
          </a:prstGeom>
          <a:noFill/>
          <a:ln/>
        </p:spPr>
        <p:txBody>
          <a:bodyPr wrap="square" rtlCol="0" anchor="ctr"/>
          <a:lstStyle/>
          <a:p>
            <a:pPr indent="0" marL="0">
              <a:buNone/>
            </a:pPr>
            <a:r>
              <a:rPr lang="en-US" sz="1800" b="1" dirty="0">
                <a:solidFill>
                  <a:srgbClr val="C85A3A"/>
                </a:solidFill>
                <a:latin typeface="Cambria" pitchFamily="34" charset="0"/>
                <a:ea typeface="Cambria" pitchFamily="34" charset="-122"/>
                <a:cs typeface="Cambria" pitchFamily="34" charset="-120"/>
              </a:rPr>
              <a:t>Coût des erreurs</a:t>
            </a:r>
            <a:endParaRPr lang="en-US" sz="1800" dirty="0"/>
          </a:p>
        </p:txBody>
      </p:sp>
      <p:sp>
        <p:nvSpPr>
          <p:cNvPr id="10" name="Text 8"/>
          <p:cNvSpPr/>
          <p:nvPr/>
        </p:nvSpPr>
        <p:spPr>
          <a:xfrm>
            <a:off x="6309360" y="3566160"/>
            <a:ext cx="4937760" cy="1737360"/>
          </a:xfrm>
          <a:prstGeom prst="rect">
            <a:avLst/>
          </a:prstGeom>
          <a:noFill/>
          <a:ln/>
        </p:spPr>
        <p:txBody>
          <a:bodyPr wrap="square" rtlCol="0" anchor="ctr"/>
          <a:lstStyle/>
          <a:p>
            <a:pPr indent="0" marL="0">
              <a:lnSpc>
                <a:spcPts val="2000"/>
              </a:lnSpc>
              <a:buNone/>
            </a:pPr>
            <a:r>
              <a:rPr lang="en-US" sz="1400" dirty="0">
                <a:solidFill>
                  <a:srgbClr val="16213D"/>
                </a:solidFill>
                <a:latin typeface="Calibri" pitchFamily="34" charset="0"/>
                <a:ea typeface="Calibri" pitchFamily="34" charset="-122"/>
                <a:cs typeface="Calibri" pitchFamily="34" charset="-120"/>
              </a:rPr>
              <a:t>Un faux négatif </a:t>
            </a:r>
            <a:pPr indent="0" marL="0">
              <a:lnSpc>
                <a:spcPts val="2000"/>
              </a:lnSpc>
              <a:buNone/>
            </a:pPr>
            <a:r>
              <a:rPr lang="en-US" sz="1400" i="1" dirty="0">
                <a:solidFill>
                  <a:srgbClr val="525D6B"/>
                </a:solidFill>
                <a:latin typeface="Calibri" pitchFamily="34" charset="0"/>
                <a:ea typeface="Calibri" pitchFamily="34" charset="-122"/>
                <a:cs typeface="Calibri" pitchFamily="34" charset="-120"/>
              </a:rPr>
              <a:t>(zone inondée non anticipée) </a:t>
            </a:r>
            <a:pPr indent="0" marL="0">
              <a:lnSpc>
                <a:spcPts val="2000"/>
              </a:lnSpc>
              <a:buNone/>
            </a:pPr>
            <a:r>
              <a:rPr lang="en-US" sz="1400" dirty="0">
                <a:solidFill>
                  <a:srgbClr val="16213D"/>
                </a:solidFill>
                <a:latin typeface="Calibri" pitchFamily="34" charset="0"/>
                <a:ea typeface="Calibri" pitchFamily="34" charset="-122"/>
                <a:cs typeface="Calibri" pitchFamily="34" charset="-120"/>
              </a:rPr>
              <a:t>coûte bien plus qu'une fausse alerte → </a:t>
            </a:r>
            <a:pPr indent="0" marL="0">
              <a:lnSpc>
                <a:spcPts val="2000"/>
              </a:lnSpc>
              <a:buNone/>
            </a:pPr>
            <a:r>
              <a:rPr lang="en-US" sz="1400" b="1" dirty="0">
                <a:solidFill>
                  <a:srgbClr val="16213D"/>
                </a:solidFill>
                <a:latin typeface="Calibri" pitchFamily="34" charset="0"/>
                <a:ea typeface="Calibri" pitchFamily="34" charset="-122"/>
                <a:cs typeface="Calibri" pitchFamily="34" charset="-120"/>
              </a:rPr>
              <a:t>le rappel est la métrique prioritaire</a:t>
            </a:r>
            <a:pPr indent="0" marL="0">
              <a:lnSpc>
                <a:spcPts val="2000"/>
              </a:lnSpc>
              <a:buNone/>
            </a:pPr>
            <a:r>
              <a:rPr lang="en-US" sz="1400" dirty="0">
                <a:solidFill>
                  <a:srgbClr val="16213D"/>
                </a:solidFill>
                <a:latin typeface="Calibri" pitchFamily="34" charset="0"/>
                <a:ea typeface="Calibri" pitchFamily="34" charset="-122"/>
                <a:cs typeface="Calibri" pitchFamily="34" charset="-120"/>
              </a:rPr>
              <a:t> (objectif ≥ 80 %)</a:t>
            </a:r>
            <a:endParaRPr lang="en-US" sz="1400" dirty="0"/>
          </a:p>
        </p:txBody>
      </p:sp>
      <p:sp>
        <p:nvSpPr>
          <p:cNvPr id="11" name="Text 9"/>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3 / 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DONNÉES</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Deux fichiers, une clé commune : zone_id</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0698480" cy="2377440"/>
        </p:xfrm>
        <a:graphic>
          <a:graphicData uri="http://schemas.openxmlformats.org/drawingml/2006/table">
            <a:tbl>
              <a:tblPr/>
              <a:tblGrid>
                <a:gridCol w="3291840"/>
                <a:gridCol w="2377440"/>
                <a:gridCol w="5029200"/>
              </a:tblGrid>
              <a:tr h="792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Fichier</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Granularité</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Contenu</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r>
              <a:tr h="792480">
                <a:tc>
                  <a:txBody>
                    <a:bodyPr/>
                    <a:lstStyle/>
                    <a:p>
                      <a:pPr indent="0" marL="0">
                        <a:buNone/>
                      </a:pPr>
                      <a:r>
                        <a:rPr lang="en-US" sz="1300" dirty="0">
                          <a:solidFill>
                            <a:srgbClr val="16213D"/>
                          </a:solidFill>
                          <a:latin typeface="Calibri" pitchFamily="34" charset="0"/>
                          <a:ea typeface="Calibri" pitchFamily="34" charset="-122"/>
                          <a:cs typeface="Calibri" pitchFamily="34" charset="-120"/>
                        </a:rPr>
                        <a:t>zones.csv (425 lignes)</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300" dirty="0">
                          <a:solidFill>
                            <a:srgbClr val="16213D"/>
                          </a:solidFill>
                          <a:latin typeface="Calibri" pitchFamily="34" charset="0"/>
                          <a:ea typeface="Calibri" pitchFamily="34" charset="-122"/>
                          <a:cs typeface="Calibri" pitchFamily="34" charset="-120"/>
                        </a:rPr>
                        <a:t>1 ligne / zone</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300" dirty="0">
                          <a:solidFill>
                            <a:srgbClr val="525D6B"/>
                          </a:solidFill>
                          <a:latin typeface="Calibri" pitchFamily="34" charset="0"/>
                          <a:ea typeface="Calibri" pitchFamily="34" charset="-122"/>
                          <a:cs typeface="Calibri" pitchFamily="34" charset="-120"/>
                        </a:rPr>
                        <a:t>Altitude, pente, sol, occupation du sol, imperméabilisation, densité, assainissement, nappe, historique 2005-2014</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792480">
                <a:tc>
                  <a:txBody>
                    <a:bodyPr/>
                    <a:lstStyle/>
                    <a:p>
                      <a:pPr indent="0" marL="0">
                        <a:buNone/>
                      </a:pPr>
                      <a:r>
                        <a:rPr lang="en-US" sz="1300" dirty="0">
                          <a:solidFill>
                            <a:srgbClr val="16213D"/>
                          </a:solidFill>
                          <a:latin typeface="Calibri" pitchFamily="34" charset="0"/>
                          <a:ea typeface="Calibri" pitchFamily="34" charset="-122"/>
                          <a:cs typeface="Calibri" pitchFamily="34" charset="-120"/>
                        </a:rPr>
                        <a:t>observations.csv (4 275 lignes)</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300" dirty="0">
                          <a:solidFill>
                            <a:srgbClr val="16213D"/>
                          </a:solidFill>
                          <a:latin typeface="Calibri" pitchFamily="34" charset="0"/>
                          <a:ea typeface="Calibri" pitchFamily="34" charset="-122"/>
                          <a:cs typeface="Calibri" pitchFamily="34" charset="-120"/>
                        </a:rPr>
                        <a:t>1 ligne / zone × année</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300" dirty="0">
                          <a:solidFill>
                            <a:srgbClr val="525D6B"/>
                          </a:solidFill>
                          <a:latin typeface="Calibri" pitchFamily="34" charset="0"/>
                          <a:ea typeface="Calibri" pitchFamily="34" charset="-122"/>
                          <a:cs typeface="Calibri" pitchFamily="34" charset="-120"/>
                        </a:rPr>
                        <a:t>Pluviométrie (cumul, 24h, 72h), crue du fleuve, cible inondation, durée de submersion</a:t>
                      </a:r>
                      <a:endParaRPr lang="en-US" sz="13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bl>
          </a:graphicData>
        </a:graphic>
      </p:graphicFrame>
      <p:sp>
        <p:nvSpPr>
          <p:cNvPr id="5" name="Text 2"/>
          <p:cNvSpPr/>
          <p:nvPr/>
        </p:nvSpPr>
        <p:spPr>
          <a:xfrm>
            <a:off x="548640" y="4480560"/>
            <a:ext cx="10698480" cy="457200"/>
          </a:xfrm>
          <a:prstGeom prst="rect">
            <a:avLst/>
          </a:prstGeom>
          <a:noFill/>
          <a:ln/>
        </p:spPr>
        <p:txBody>
          <a:bodyPr wrap="square" rtlCol="0" anchor="ctr"/>
          <a:lstStyle/>
          <a:p>
            <a:pPr indent="0" marL="0">
              <a:buNone/>
            </a:pPr>
            <a:r>
              <a:rPr lang="en-US" sz="1400" dirty="0">
                <a:solidFill>
                  <a:srgbClr val="525D6B"/>
                </a:solidFill>
                <a:latin typeface="Calibri" pitchFamily="34" charset="0"/>
                <a:ea typeface="Calibri" pitchFamily="34" charset="-122"/>
                <a:cs typeface="Calibri" pitchFamily="34" charset="-120"/>
              </a:rPr>
              <a:t>38 localités · 14 régions · hivernages 2015 à 2024 · données synthétiques à visée pédagogique</a:t>
            </a:r>
            <a:endParaRPr lang="en-US" sz="1400" dirty="0"/>
          </a:p>
        </p:txBody>
      </p:sp>
      <p:sp>
        <p:nvSpPr>
          <p:cNvPr id="6" name="Text 3"/>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4 / 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NETTOYAGE</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Six défauts détectés et corrigés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0698480" cy="3657600"/>
        </p:xfrm>
        <a:graphic>
          <a:graphicData uri="http://schemas.openxmlformats.org/drawingml/2006/table">
            <a:tbl>
              <a:tblPr/>
              <a:tblGrid>
                <a:gridCol w="3474720"/>
                <a:gridCol w="1828800"/>
                <a:gridCol w="5394960"/>
              </a:tblGrid>
              <a:tr h="52251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Défaut</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Ampleur</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Correction</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r>
              <a:tr h="522514">
                <a:tc>
                  <a:txBody>
                    <a:bodyPr/>
                    <a:lstStyle/>
                    <a:p>
                      <a:pPr indent="0" marL="0">
                        <a:buNone/>
                      </a:pPr>
                      <a:r>
                        <a:rPr lang="en-US" sz="1200" dirty="0">
                          <a:solidFill>
                            <a:srgbClr val="16213D"/>
                          </a:solidFill>
                          <a:latin typeface="Calibri" pitchFamily="34" charset="0"/>
                          <a:ea typeface="Calibri" pitchFamily="34" charset="-122"/>
                          <a:cs typeface="Calibri" pitchFamily="34" charset="-120"/>
                        </a:rPr>
                        <a:t>Altitudes à -9999</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7 zones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200" dirty="0">
                          <a:solidFill>
                            <a:srgbClr val="525D6B"/>
                          </a:solidFill>
                          <a:latin typeface="Calibri" pitchFamily="34" charset="0"/>
                          <a:ea typeface="Calibri" pitchFamily="34" charset="-122"/>
                          <a:cs typeface="Calibri" pitchFamily="34" charset="-120"/>
                        </a:rPr>
                        <a:t>Imputation par médiane locale/régionale</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522514">
                <a:tc>
                  <a:txBody>
                    <a:bodyPr/>
                    <a:lstStyle/>
                    <a:p>
                      <a:pPr indent="0" marL="0">
                        <a:buNone/>
                      </a:pPr>
                      <a:r>
                        <a:rPr lang="en-US" sz="1200" dirty="0">
                          <a:solidFill>
                            <a:srgbClr val="16213D"/>
                          </a:solidFill>
                          <a:latin typeface="Calibri" pitchFamily="34" charset="0"/>
                          <a:ea typeface="Calibri" pitchFamily="34" charset="-122"/>
                          <a:cs typeface="Calibri" pitchFamily="34" charset="-120"/>
                        </a:rPr>
                        <a:t>Coordonnées inversées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4 zones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200" dirty="0">
                          <a:solidFill>
                            <a:srgbClr val="525D6B"/>
                          </a:solidFill>
                          <a:latin typeface="Calibri" pitchFamily="34" charset="0"/>
                          <a:ea typeface="Calibri" pitchFamily="34" charset="-122"/>
                          <a:cs typeface="Calibri" pitchFamily="34" charset="-120"/>
                        </a:rPr>
                        <a:t>Détection hors Sénégal, permutation lat/lon</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522514">
                <a:tc>
                  <a:txBody>
                    <a:bodyPr/>
                    <a:lstStyle/>
                    <a:p>
                      <a:pPr indent="0" marL="0">
                        <a:buNone/>
                      </a:pPr>
                      <a:r>
                        <a:rPr lang="en-US" sz="1200" dirty="0">
                          <a:solidFill>
                            <a:srgbClr val="16213D"/>
                          </a:solidFill>
                          <a:latin typeface="Calibri" pitchFamily="34" charset="0"/>
                          <a:ea typeface="Calibri" pitchFamily="34" charset="-122"/>
                          <a:cs typeface="Calibri" pitchFamily="34" charset="-120"/>
                        </a:rPr>
                        <a:t>Localités non harmonisées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2 variantes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200" dirty="0">
                          <a:solidFill>
                            <a:srgbClr val="525D6B"/>
                          </a:solidFill>
                          <a:latin typeface="Calibri" pitchFamily="34" charset="0"/>
                          <a:ea typeface="Calibri" pitchFamily="34" charset="-122"/>
                          <a:cs typeface="Calibri" pitchFamily="34" charset="-120"/>
                        </a:rPr>
                        <a:t>Fusion vers le nom officiel</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522514">
                <a:tc>
                  <a:txBody>
                    <a:bodyPr/>
                    <a:lstStyle/>
                    <a:p>
                      <a:pPr indent="0" marL="0">
                        <a:buNone/>
                      </a:pPr>
                      <a:r>
                        <a:rPr lang="en-US" sz="1200" dirty="0">
                          <a:solidFill>
                            <a:srgbClr val="16213D"/>
                          </a:solidFill>
                          <a:latin typeface="Calibri" pitchFamily="34" charset="0"/>
                          <a:ea typeface="Calibri" pitchFamily="34" charset="-122"/>
                          <a:cs typeface="Calibri" pitchFamily="34" charset="-120"/>
                        </a:rPr>
                        <a:t>Valeurs manquantes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3-16 %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200" dirty="0">
                          <a:solidFill>
                            <a:srgbClr val="525D6B"/>
                          </a:solidFill>
                          <a:latin typeface="Calibri" pitchFamily="34" charset="0"/>
                          <a:ea typeface="Calibri" pitchFamily="34" charset="-122"/>
                          <a:cs typeface="Calibri" pitchFamily="34" charset="-120"/>
                        </a:rPr>
                        <a:t>Imputation médiane/mode (zone, année)</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522514">
                <a:tc>
                  <a:txBody>
                    <a:bodyPr/>
                    <a:lstStyle/>
                    <a:p>
                      <a:pPr indent="0" marL="0">
                        <a:buNone/>
                      </a:pPr>
                      <a:r>
                        <a:rPr lang="en-US" sz="1200" dirty="0">
                          <a:solidFill>
                            <a:srgbClr val="16213D"/>
                          </a:solidFill>
                          <a:latin typeface="Calibri" pitchFamily="34" charset="0"/>
                          <a:ea typeface="Calibri" pitchFamily="34" charset="-122"/>
                          <a:cs typeface="Calibri" pitchFamily="34" charset="-120"/>
                        </a:rPr>
                        <a:t>Observations dupliquées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25 lignes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200" dirty="0">
                          <a:solidFill>
                            <a:srgbClr val="525D6B"/>
                          </a:solidFill>
                          <a:latin typeface="Calibri" pitchFamily="34" charset="0"/>
                          <a:ea typeface="Calibri" pitchFamily="34" charset="-122"/>
                          <a:cs typeface="Calibri" pitchFamily="34" charset="-120"/>
                        </a:rPr>
                        <a:t>Suppression (zone_id + année)</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522514">
                <a:tc>
                  <a:txBody>
                    <a:bodyPr/>
                    <a:lstStyle/>
                    <a:p>
                      <a:pPr indent="0" marL="0">
                        <a:buNone/>
                      </a:pPr>
                      <a:r>
                        <a:rPr lang="en-US" sz="1200" dirty="0">
                          <a:solidFill>
                            <a:srgbClr val="16213D"/>
                          </a:solidFill>
                          <a:latin typeface="Calibri" pitchFamily="34" charset="0"/>
                          <a:ea typeface="Calibri" pitchFamily="34" charset="-122"/>
                          <a:cs typeface="Calibri" pitchFamily="34" charset="-120"/>
                        </a:rPr>
                        <a:t>Fuite de données (durée submersion)</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1 variable</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200" dirty="0">
                          <a:solidFill>
                            <a:srgbClr val="525D6B"/>
                          </a:solidFill>
                          <a:latin typeface="Calibri" pitchFamily="34" charset="0"/>
                          <a:ea typeface="Calibri" pitchFamily="34" charset="-122"/>
                          <a:cs typeface="Calibri" pitchFamily="34" charset="-120"/>
                        </a:rPr>
                        <a:t>Exclue des variables explicatives</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bl>
          </a:graphicData>
        </a:graphic>
      </p:graphicFrame>
      <p:sp>
        <p:nvSpPr>
          <p:cNvPr id="5" name="Text 2"/>
          <p:cNvSpPr/>
          <p:nvPr/>
        </p:nvSpPr>
        <p:spPr>
          <a:xfrm>
            <a:off x="548640" y="5532120"/>
            <a:ext cx="10698480" cy="457200"/>
          </a:xfrm>
          <a:prstGeom prst="rect">
            <a:avLst/>
          </a:prstGeom>
          <a:noFill/>
          <a:ln/>
        </p:spPr>
        <p:txBody>
          <a:bodyPr wrap="square" rtlCol="0" anchor="ctr"/>
          <a:lstStyle/>
          <a:p>
            <a:pPr indent="0" marL="0">
              <a:buNone/>
            </a:pPr>
            <a:r>
              <a:rPr lang="en-US" sz="1400" dirty="0">
                <a:solidFill>
                  <a:srgbClr val="525D6B"/>
                </a:solidFill>
                <a:latin typeface="Calibri" pitchFamily="34" charset="0"/>
                <a:ea typeface="Calibri" pitchFamily="34" charset="-122"/>
                <a:cs typeface="Calibri" pitchFamily="34" charset="-120"/>
              </a:rPr>
              <a:t>Après nettoyage : </a:t>
            </a:r>
            <a:pPr indent="0" marL="0">
              <a:buNone/>
            </a:pPr>
            <a:r>
              <a:rPr lang="en-US" sz="1400" b="1" dirty="0">
                <a:solidFill>
                  <a:srgbClr val="16213D"/>
                </a:solidFill>
                <a:latin typeface="Calibri" pitchFamily="34" charset="0"/>
                <a:ea typeface="Calibri" pitchFamily="34" charset="-122"/>
                <a:cs typeface="Calibri" pitchFamily="34" charset="-120"/>
              </a:rPr>
              <a:t>425 zones</a:t>
            </a:r>
            <a:pPr indent="0" marL="0">
              <a:buNone/>
            </a:pPr>
            <a:r>
              <a:rPr lang="en-US" sz="1400" dirty="0">
                <a:solidFill>
                  <a:srgbClr val="525D6B"/>
                </a:solidFill>
                <a:latin typeface="Calibri" pitchFamily="34" charset="0"/>
                <a:ea typeface="Calibri" pitchFamily="34" charset="-122"/>
                <a:cs typeface="Calibri" pitchFamily="34" charset="-120"/>
              </a:rPr>
              <a:t> · </a:t>
            </a:r>
            <a:pPr indent="0" marL="0">
              <a:buNone/>
            </a:pPr>
            <a:r>
              <a:rPr lang="en-US" sz="1400" b="1" dirty="0">
                <a:solidFill>
                  <a:srgbClr val="16213D"/>
                </a:solidFill>
                <a:latin typeface="Calibri" pitchFamily="34" charset="0"/>
                <a:ea typeface="Calibri" pitchFamily="34" charset="-122"/>
                <a:cs typeface="Calibri" pitchFamily="34" charset="-120"/>
              </a:rPr>
              <a:t>4 250 observations</a:t>
            </a:r>
            <a:pPr indent="0" marL="0">
              <a:buNone/>
            </a:pPr>
            <a:r>
              <a:rPr lang="en-US" sz="1400" dirty="0">
                <a:solidFill>
                  <a:srgbClr val="525D6B"/>
                </a:solidFill>
                <a:latin typeface="Calibri" pitchFamily="34" charset="0"/>
                <a:ea typeface="Calibri" pitchFamily="34" charset="-122"/>
                <a:cs typeface="Calibri" pitchFamily="34" charset="-120"/>
              </a:rPr>
              <a:t> valides</a:t>
            </a:r>
            <a:endParaRPr lang="en-US" sz="1400" dirty="0"/>
          </a:p>
        </p:txBody>
      </p:sp>
      <p:sp>
        <p:nvSpPr>
          <p:cNvPr id="6" name="Text 3"/>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5 / 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EXPLORATION DES DONNÉES</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2020, l'hivernage le plus touché</a:t>
            </a:r>
            <a:endParaRPr lang="en-US" sz="3000" dirty="0"/>
          </a:p>
        </p:txBody>
      </p:sp>
      <p:sp>
        <p:nvSpPr>
          <p:cNvPr id="4" name="Text 2"/>
          <p:cNvSpPr/>
          <p:nvPr/>
        </p:nvSpPr>
        <p:spPr>
          <a:xfrm>
            <a:off x="548640" y="1600200"/>
            <a:ext cx="10515600" cy="365760"/>
          </a:xfrm>
          <a:prstGeom prst="rect">
            <a:avLst/>
          </a:prstGeom>
          <a:noFill/>
          <a:ln/>
        </p:spPr>
        <p:txBody>
          <a:bodyPr wrap="square" rtlCol="0" anchor="ctr"/>
          <a:lstStyle/>
          <a:p>
            <a:pPr indent="0" marL="0">
              <a:buNone/>
            </a:pPr>
            <a:r>
              <a:rPr lang="en-US" sz="1400" dirty="0">
                <a:solidFill>
                  <a:srgbClr val="525D6B"/>
                </a:solidFill>
                <a:latin typeface="Calibri" pitchFamily="34" charset="0"/>
                <a:ea typeface="Calibri" pitchFamily="34" charset="-122"/>
                <a:cs typeface="Calibri" pitchFamily="34" charset="-120"/>
              </a:rPr>
              <a:t>Taux d'inondation par hivernage, après nettoyage (2015-2024)</a:t>
            </a:r>
            <a:endParaRPr lang="en-US" sz="1400" dirty="0"/>
          </a:p>
        </p:txBody>
      </p:sp>
      <p:graphicFrame>
        <p:nvGraphicFramePr>
          <p:cNvPr id="5" name="Chart 0" descr=""/>
          <p:cNvGraphicFramePr/>
          <p:nvPr/>
        </p:nvGraphicFramePr>
        <p:xfrm>
          <a:off x="548640" y="2057400"/>
          <a:ext cx="1069848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15200" y="2148840"/>
            <a:ext cx="2011680" cy="365760"/>
          </a:xfrm>
          <a:prstGeom prst="rect">
            <a:avLst/>
          </a:prstGeom>
          <a:noFill/>
          <a:ln/>
        </p:spPr>
        <p:txBody>
          <a:bodyPr wrap="square" rtlCol="0" anchor="ctr"/>
          <a:lstStyle/>
          <a:p>
            <a:pPr algn="r" indent="0" marL="0">
              <a:buNone/>
            </a:pPr>
            <a:r>
              <a:rPr lang="en-US" sz="1300" b="1" dirty="0">
                <a:solidFill>
                  <a:srgbClr val="C85A3A"/>
                </a:solidFill>
                <a:latin typeface="Calibri" pitchFamily="34" charset="0"/>
                <a:ea typeface="Calibri" pitchFamily="34" charset="-122"/>
                <a:cs typeface="Calibri" pitchFamily="34" charset="-120"/>
              </a:rPr>
              <a:t>2020 : 29 %</a:t>
            </a:r>
            <a:endParaRPr lang="en-US" sz="1300" dirty="0"/>
          </a:p>
        </p:txBody>
      </p:sp>
      <p:sp>
        <p:nvSpPr>
          <p:cNvPr id="7" name="Text 4"/>
          <p:cNvSpPr/>
          <p:nvPr/>
        </p:nvSpPr>
        <p:spPr>
          <a:xfrm>
            <a:off x="548640" y="5577840"/>
            <a:ext cx="10698480" cy="457200"/>
          </a:xfrm>
          <a:prstGeom prst="rect">
            <a:avLst/>
          </a:prstGeom>
          <a:noFill/>
          <a:ln/>
        </p:spPr>
        <p:txBody>
          <a:bodyPr wrap="square" rtlCol="0" anchor="ctr"/>
          <a:lstStyle/>
          <a:p>
            <a:pPr indent="0" marL="0">
              <a:buNone/>
            </a:pPr>
            <a:r>
              <a:rPr lang="en-US" sz="1300" dirty="0">
                <a:solidFill>
                  <a:srgbClr val="525D6B"/>
                </a:solidFill>
                <a:latin typeface="Calibri" pitchFamily="34" charset="0"/>
                <a:ea typeface="Calibri" pitchFamily="34" charset="-122"/>
                <a:cs typeface="Calibri" pitchFamily="34" charset="-120"/>
              </a:rPr>
              <a:t>Zones humides (Niayes/bas-fonds) et urbain dense atteignent 27 % ; agricole et végétation naturelle restent sous 11 %.</a:t>
            </a:r>
            <a:endParaRPr lang="en-US" sz="1300" dirty="0"/>
          </a:p>
        </p:txBody>
      </p:sp>
      <p:sp>
        <p:nvSpPr>
          <p:cNvPr id="8" name="Text 5"/>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6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MÉTHODOLOGIE</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2800" b="1" dirty="0">
                <a:solidFill>
                  <a:srgbClr val="16213D"/>
                </a:solidFill>
                <a:latin typeface="Cambria" pitchFamily="34" charset="0"/>
                <a:ea typeface="Cambria" pitchFamily="34" charset="-122"/>
                <a:cs typeface="Cambria" pitchFamily="34" charset="-120"/>
              </a:rPr>
              <a:t>Une validation qui respecte le temps et l'espace</a:t>
            </a:r>
            <a:endParaRPr lang="en-US" sz="2800" dirty="0"/>
          </a:p>
        </p:txBody>
      </p:sp>
      <p:sp>
        <p:nvSpPr>
          <p:cNvPr id="4" name="Shape 2"/>
          <p:cNvSpPr/>
          <p:nvPr/>
        </p:nvSpPr>
        <p:spPr>
          <a:xfrm>
            <a:off x="548640" y="1920240"/>
            <a:ext cx="5120640" cy="3840480"/>
          </a:xfrm>
          <a:prstGeom prst="roundRect">
            <a:avLst>
              <a:gd name="adj" fmla="val 2381"/>
            </a:avLst>
          </a:prstGeom>
          <a:solidFill>
            <a:srgbClr val="FFFFFF"/>
          </a:solidFill>
          <a:ln w="12700">
            <a:solidFill>
              <a:srgbClr val="E3E6E4"/>
            </a:solidFill>
            <a:prstDash val="solid"/>
          </a:ln>
        </p:spPr>
      </p:sp>
      <p:sp>
        <p:nvSpPr>
          <p:cNvPr id="5" name="Text 3"/>
          <p:cNvSpPr/>
          <p:nvPr/>
        </p:nvSpPr>
        <p:spPr>
          <a:xfrm>
            <a:off x="914400" y="2194560"/>
            <a:ext cx="4389120" cy="457200"/>
          </a:xfrm>
          <a:prstGeom prst="rect">
            <a:avLst/>
          </a:prstGeom>
          <a:noFill/>
          <a:ln/>
        </p:spPr>
        <p:txBody>
          <a:bodyPr wrap="square" rtlCol="0" anchor="ctr"/>
          <a:lstStyle/>
          <a:p>
            <a:pPr indent="0" marL="0">
              <a:buNone/>
            </a:pPr>
            <a:r>
              <a:rPr lang="en-US" sz="1800" b="1" dirty="0">
                <a:solidFill>
                  <a:srgbClr val="2563A8"/>
                </a:solidFill>
                <a:latin typeface="Cambria" pitchFamily="34" charset="0"/>
                <a:ea typeface="Cambria" pitchFamily="34" charset="-122"/>
                <a:cs typeface="Cambria" pitchFamily="34" charset="-120"/>
              </a:rPr>
              <a:t>Découpage temporel</a:t>
            </a:r>
            <a:endParaRPr lang="en-US" sz="1800" dirty="0"/>
          </a:p>
        </p:txBody>
      </p:sp>
      <p:sp>
        <p:nvSpPr>
          <p:cNvPr id="6" name="Shape 4"/>
          <p:cNvSpPr/>
          <p:nvPr/>
        </p:nvSpPr>
        <p:spPr>
          <a:xfrm>
            <a:off x="914400" y="2788920"/>
            <a:ext cx="1828800" cy="502920"/>
          </a:xfrm>
          <a:prstGeom prst="roundRect">
            <a:avLst>
              <a:gd name="adj" fmla="val 10909"/>
            </a:avLst>
          </a:prstGeom>
          <a:solidFill>
            <a:srgbClr val="EAF1F8"/>
          </a:solidFill>
          <a:ln/>
        </p:spPr>
      </p:sp>
      <p:sp>
        <p:nvSpPr>
          <p:cNvPr id="7" name="Text 5"/>
          <p:cNvSpPr/>
          <p:nvPr/>
        </p:nvSpPr>
        <p:spPr>
          <a:xfrm>
            <a:off x="914400" y="2788920"/>
            <a:ext cx="1828800" cy="502920"/>
          </a:xfrm>
          <a:prstGeom prst="rect">
            <a:avLst/>
          </a:prstGeom>
          <a:noFill/>
          <a:ln/>
        </p:spPr>
        <p:txBody>
          <a:bodyPr wrap="square" rtlCol="0" anchor="ctr"/>
          <a:lstStyle/>
          <a:p>
            <a:pPr algn="ctr" indent="0" marL="0">
              <a:buNone/>
            </a:pPr>
            <a:r>
              <a:rPr lang="en-US" sz="1400" b="1" dirty="0">
                <a:solidFill>
                  <a:srgbClr val="2563A8"/>
                </a:solidFill>
                <a:latin typeface="Calibri" pitchFamily="34" charset="0"/>
                <a:ea typeface="Calibri" pitchFamily="34" charset="-122"/>
                <a:cs typeface="Calibri" pitchFamily="34" charset="-120"/>
              </a:rPr>
              <a:t>2015 → 2023</a:t>
            </a:r>
            <a:endParaRPr lang="en-US" sz="1400" dirty="0"/>
          </a:p>
        </p:txBody>
      </p:sp>
      <p:sp>
        <p:nvSpPr>
          <p:cNvPr id="8" name="Shape 6"/>
          <p:cNvSpPr/>
          <p:nvPr/>
        </p:nvSpPr>
        <p:spPr>
          <a:xfrm>
            <a:off x="3017520" y="2788920"/>
            <a:ext cx="1828800" cy="502920"/>
          </a:xfrm>
          <a:prstGeom prst="roundRect">
            <a:avLst>
              <a:gd name="adj" fmla="val 10909"/>
            </a:avLst>
          </a:prstGeom>
          <a:solidFill>
            <a:srgbClr val="FBEEE8"/>
          </a:solidFill>
          <a:ln/>
        </p:spPr>
      </p:sp>
      <p:sp>
        <p:nvSpPr>
          <p:cNvPr id="9" name="Text 7"/>
          <p:cNvSpPr/>
          <p:nvPr/>
        </p:nvSpPr>
        <p:spPr>
          <a:xfrm>
            <a:off x="3017520" y="2788920"/>
            <a:ext cx="1828800" cy="502920"/>
          </a:xfrm>
          <a:prstGeom prst="rect">
            <a:avLst/>
          </a:prstGeom>
          <a:noFill/>
          <a:ln/>
        </p:spPr>
        <p:txBody>
          <a:bodyPr wrap="square" rtlCol="0" anchor="ctr"/>
          <a:lstStyle/>
          <a:p>
            <a:pPr algn="ctr" indent="0" marL="0">
              <a:buNone/>
            </a:pPr>
            <a:r>
              <a:rPr lang="en-US" sz="1400" b="1" dirty="0">
                <a:solidFill>
                  <a:srgbClr val="C85A3A"/>
                </a:solidFill>
                <a:latin typeface="Calibri" pitchFamily="34" charset="0"/>
                <a:ea typeface="Calibri" pitchFamily="34" charset="-122"/>
                <a:cs typeface="Calibri" pitchFamily="34" charset="-120"/>
              </a:rPr>
              <a:t>2024 = test</a:t>
            </a:r>
            <a:endParaRPr lang="en-US" sz="1400" dirty="0"/>
          </a:p>
        </p:txBody>
      </p:sp>
      <p:sp>
        <p:nvSpPr>
          <p:cNvPr id="10" name="Text 8"/>
          <p:cNvSpPr/>
          <p:nvPr/>
        </p:nvSpPr>
        <p:spPr>
          <a:xfrm>
            <a:off x="914400" y="3566160"/>
            <a:ext cx="4389120" cy="1280160"/>
          </a:xfrm>
          <a:prstGeom prst="rect">
            <a:avLst/>
          </a:prstGeom>
          <a:noFill/>
          <a:ln/>
        </p:spPr>
        <p:txBody>
          <a:bodyPr wrap="square" rtlCol="0" anchor="ctr"/>
          <a:lstStyle/>
          <a:p>
            <a:pPr indent="0" marL="0">
              <a:lnSpc>
                <a:spcPts val="2000"/>
              </a:lnSpc>
              <a:buNone/>
            </a:pPr>
            <a:r>
              <a:rPr lang="en-US" sz="1400" dirty="0">
                <a:solidFill>
                  <a:srgbClr val="525D6B"/>
                </a:solidFill>
                <a:latin typeface="Calibri" pitchFamily="34" charset="0"/>
                <a:ea typeface="Calibri" pitchFamily="34" charset="-122"/>
                <a:cs typeface="Calibri" pitchFamily="34" charset="-120"/>
              </a:rPr>
              <a:t>Le modèle est testé sur une année entièrement future, jamais vue à l'entraînement.</a:t>
            </a:r>
            <a:endParaRPr lang="en-US" sz="1400" dirty="0"/>
          </a:p>
        </p:txBody>
      </p:sp>
      <p:sp>
        <p:nvSpPr>
          <p:cNvPr id="11" name="Shape 9"/>
          <p:cNvSpPr/>
          <p:nvPr/>
        </p:nvSpPr>
        <p:spPr>
          <a:xfrm>
            <a:off x="5943600" y="1920240"/>
            <a:ext cx="5669280" cy="3840480"/>
          </a:xfrm>
          <a:prstGeom prst="roundRect">
            <a:avLst>
              <a:gd name="adj" fmla="val 2381"/>
            </a:avLst>
          </a:prstGeom>
          <a:solidFill>
            <a:srgbClr val="FFFFFF"/>
          </a:solidFill>
          <a:ln w="12700">
            <a:solidFill>
              <a:srgbClr val="E3E6E4"/>
            </a:solidFill>
            <a:prstDash val="solid"/>
          </a:ln>
        </p:spPr>
      </p:sp>
      <p:sp>
        <p:nvSpPr>
          <p:cNvPr id="12" name="Text 10"/>
          <p:cNvSpPr/>
          <p:nvPr/>
        </p:nvSpPr>
        <p:spPr>
          <a:xfrm>
            <a:off x="6309360" y="2194560"/>
            <a:ext cx="4937760" cy="457200"/>
          </a:xfrm>
          <a:prstGeom prst="rect">
            <a:avLst/>
          </a:prstGeom>
          <a:noFill/>
          <a:ln/>
        </p:spPr>
        <p:txBody>
          <a:bodyPr wrap="square" rtlCol="0" anchor="ctr"/>
          <a:lstStyle/>
          <a:p>
            <a:pPr indent="0" marL="0">
              <a:buNone/>
            </a:pPr>
            <a:r>
              <a:rPr lang="en-US" sz="1800" b="1" dirty="0">
                <a:solidFill>
                  <a:srgbClr val="2563A8"/>
                </a:solidFill>
                <a:latin typeface="Cambria" pitchFamily="34" charset="0"/>
                <a:ea typeface="Cambria" pitchFamily="34" charset="-122"/>
                <a:cs typeface="Cambria" pitchFamily="34" charset="-120"/>
              </a:rPr>
              <a:t>GroupKFold par région</a:t>
            </a:r>
            <a:endParaRPr lang="en-US" sz="1800" dirty="0"/>
          </a:p>
        </p:txBody>
      </p:sp>
      <p:sp>
        <p:nvSpPr>
          <p:cNvPr id="13" name="Text 11"/>
          <p:cNvSpPr/>
          <p:nvPr/>
        </p:nvSpPr>
        <p:spPr>
          <a:xfrm>
            <a:off x="6309360" y="2834640"/>
            <a:ext cx="4937760" cy="1463040"/>
          </a:xfrm>
          <a:prstGeom prst="rect">
            <a:avLst/>
          </a:prstGeom>
          <a:noFill/>
          <a:ln/>
        </p:spPr>
        <p:txBody>
          <a:bodyPr wrap="square" rtlCol="0" anchor="ctr"/>
          <a:lstStyle/>
          <a:p>
            <a:pPr indent="0" marL="0">
              <a:lnSpc>
                <a:spcPts val="2000"/>
              </a:lnSpc>
              <a:buNone/>
            </a:pPr>
            <a:r>
              <a:rPr lang="en-US" sz="1400" dirty="0">
                <a:solidFill>
                  <a:srgbClr val="525D6B"/>
                </a:solidFill>
                <a:latin typeface="Calibri" pitchFamily="34" charset="0"/>
                <a:ea typeface="Calibri" pitchFamily="34" charset="-122"/>
                <a:cs typeface="Calibri" pitchFamily="34" charset="-120"/>
              </a:rPr>
              <a:t>5 blocs de validation croisée groupés par région : des zones voisines ne se retrouvent jamais à la fois en apprentissage et en validation.</a:t>
            </a:r>
            <a:endParaRPr lang="en-US" sz="1400" dirty="0"/>
          </a:p>
        </p:txBody>
      </p:sp>
      <p:sp>
        <p:nvSpPr>
          <p:cNvPr id="14" name="Text 12"/>
          <p:cNvSpPr/>
          <p:nvPr/>
        </p:nvSpPr>
        <p:spPr>
          <a:xfrm>
            <a:off x="6309360" y="4389120"/>
            <a:ext cx="4937760" cy="1097280"/>
          </a:xfrm>
          <a:prstGeom prst="rect">
            <a:avLst/>
          </a:prstGeom>
          <a:noFill/>
          <a:ln/>
        </p:spPr>
        <p:txBody>
          <a:bodyPr wrap="square" rtlCol="0" anchor="ctr"/>
          <a:lstStyle/>
          <a:p>
            <a:pPr indent="0" marL="0">
              <a:lnSpc>
                <a:spcPts val="2000"/>
              </a:lnSpc>
              <a:buNone/>
            </a:pPr>
            <a:r>
              <a:rPr lang="en-US" sz="1400" b="1" dirty="0">
                <a:solidFill>
                  <a:srgbClr val="16213D"/>
                </a:solidFill>
                <a:latin typeface="Calibri" pitchFamily="34" charset="0"/>
                <a:ea typeface="Calibri" pitchFamily="34" charset="-122"/>
                <a:cs typeface="Calibri" pitchFamily="34" charset="-120"/>
              </a:rPr>
              <a:t>Évite </a:t>
            </a:r>
            <a:pPr indent="0" marL="0">
              <a:lnSpc>
                <a:spcPts val="2000"/>
              </a:lnSpc>
              <a:buNone/>
            </a:pPr>
            <a:r>
              <a:rPr lang="en-US" sz="1400" dirty="0">
                <a:solidFill>
                  <a:srgbClr val="16213D"/>
                </a:solidFill>
                <a:latin typeface="Calibri" pitchFamily="34" charset="0"/>
                <a:ea typeface="Calibri" pitchFamily="34" charset="-122"/>
                <a:cs typeface="Calibri" pitchFamily="34" charset="-120"/>
              </a:rPr>
              <a:t>l'autocorrélation spatiale qui gonflerait artificiellement la performance.</a:t>
            </a:r>
            <a:endParaRPr lang="en-US" sz="1400" dirty="0"/>
          </a:p>
        </p:txBody>
      </p:sp>
      <p:sp>
        <p:nvSpPr>
          <p:cNvPr id="15" name="Text 13"/>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7 / 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MODÉLISATION</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Trois modèles, un choix interprétable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0698480" cy="2103120"/>
        </p:xfrm>
        <a:graphic>
          <a:graphicData uri="http://schemas.openxmlformats.org/drawingml/2006/table">
            <a:tbl>
              <a:tblPr/>
              <a:tblGrid>
                <a:gridCol w="2651760"/>
                <a:gridCol w="1463040"/>
                <a:gridCol w="1371600"/>
                <a:gridCol w="1463040"/>
                <a:gridCol w="1371600"/>
                <a:gridCol w="1097280"/>
                <a:gridCol w="1280160"/>
              </a:tblGrid>
              <a:tr h="5257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Modèle</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Rappel (0,5)</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Seuil ajusté</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Rappel ajusté</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Précision</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AUC-ROC</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r>
              <a:tr h="525780">
                <a:tc>
                  <a:txBody>
                    <a:bodyPr/>
                    <a:lstStyle/>
                    <a:p>
                      <a:pPr indent="0" marL="0">
                        <a:buNone/>
                      </a:pPr>
                      <a:r>
                        <a:rPr lang="en-US" sz="1200" b="1" dirty="0">
                          <a:solidFill>
                            <a:srgbClr val="16213D"/>
                          </a:solidFill>
                          <a:latin typeface="Calibri" pitchFamily="34" charset="0"/>
                          <a:ea typeface="Calibri" pitchFamily="34" charset="-122"/>
                          <a:cs typeface="Calibri" pitchFamily="34" charset="-120"/>
                        </a:rPr>
                        <a:t>Régression logistique</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85,1 %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b="1" dirty="0">
                          <a:solidFill>
                            <a:srgbClr val="2563A8"/>
                          </a:solidFill>
                          <a:latin typeface="Calibri" pitchFamily="34" charset="0"/>
                          <a:ea typeface="Calibri" pitchFamily="34" charset="-122"/>
                          <a:cs typeface="Calibri" pitchFamily="34" charset="-120"/>
                        </a:rPr>
                        <a:t>90,4 %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40,5 %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0,858</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525780">
                <a:tc>
                  <a:txBody>
                    <a:bodyPr/>
                    <a:lstStyle/>
                    <a:p>
                      <a:pPr indent="0" marL="0">
                        <a:buNone/>
                      </a:pPr>
                      <a:r>
                        <a:rPr lang="en-US" sz="1200" dirty="0">
                          <a:solidFill>
                            <a:srgbClr val="16213D"/>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77,7 %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b="1" dirty="0">
                          <a:solidFill>
                            <a:srgbClr val="2563A8"/>
                          </a:solidFill>
                          <a:latin typeface="Calibri" pitchFamily="34" charset="0"/>
                          <a:ea typeface="Calibri" pitchFamily="34" charset="-122"/>
                          <a:cs typeface="Calibri" pitchFamily="34" charset="-120"/>
                        </a:rPr>
                        <a:t>84,0 %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44,4 %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0,856</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525780">
                <a:tc>
                  <a:txBody>
                    <a:bodyPr/>
                    <a:lstStyle/>
                    <a:p>
                      <a:pPr indent="0" marL="0">
                        <a:buNone/>
                      </a:pPr>
                      <a:r>
                        <a:rPr lang="en-US" sz="1200" dirty="0">
                          <a:solidFill>
                            <a:srgbClr val="16213D"/>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83,0 %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b="1" dirty="0">
                          <a:solidFill>
                            <a:srgbClr val="2563A8"/>
                          </a:solidFill>
                          <a:latin typeface="Calibri" pitchFamily="34" charset="0"/>
                          <a:ea typeface="Calibri" pitchFamily="34" charset="-122"/>
                          <a:cs typeface="Calibri" pitchFamily="34" charset="-120"/>
                        </a:rPr>
                        <a:t>89,4 %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37,2 %</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0,53</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ctr" indent="0" marL="0">
                        <a:buNone/>
                      </a:pPr>
                      <a:r>
                        <a:rPr lang="en-US" sz="1200" dirty="0">
                          <a:solidFill>
                            <a:srgbClr val="16213D"/>
                          </a:solidFill>
                          <a:latin typeface="Calibri" pitchFamily="34" charset="0"/>
                          <a:ea typeface="Calibri" pitchFamily="34" charset="-122"/>
                          <a:cs typeface="Calibri" pitchFamily="34" charset="-120"/>
                        </a:rPr>
                        <a:t>0,845</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bl>
          </a:graphicData>
        </a:graphic>
      </p:graphicFrame>
      <p:sp>
        <p:nvSpPr>
          <p:cNvPr id="5" name="Text 2"/>
          <p:cNvSpPr/>
          <p:nvPr/>
        </p:nvSpPr>
        <p:spPr>
          <a:xfrm>
            <a:off x="548640" y="4114800"/>
            <a:ext cx="10698480" cy="731520"/>
          </a:xfrm>
          <a:prstGeom prst="rect">
            <a:avLst/>
          </a:prstGeom>
          <a:noFill/>
          <a:ln/>
        </p:spPr>
        <p:txBody>
          <a:bodyPr wrap="square" rtlCol="0" anchor="ctr"/>
          <a:lstStyle/>
          <a:p>
            <a:pPr indent="0" marL="0">
              <a:lnSpc>
                <a:spcPts val="2100"/>
              </a:lnSpc>
              <a:buNone/>
            </a:pPr>
            <a:r>
              <a:rPr lang="en-US" sz="1500" b="1" dirty="0">
                <a:solidFill>
                  <a:srgbClr val="16213D"/>
                </a:solidFill>
                <a:latin typeface="Calibri" pitchFamily="34" charset="0"/>
                <a:ea typeface="Calibri" pitchFamily="34" charset="-122"/>
                <a:cs typeface="Calibri" pitchFamily="34" charset="-120"/>
              </a:rPr>
              <a:t>Modèle retenu : régression logistique</a:t>
            </a:r>
            <a:pPr indent="0" marL="0">
              <a:lnSpc>
                <a:spcPts val="2100"/>
              </a:lnSpc>
              <a:buNone/>
            </a:pPr>
            <a:r>
              <a:rPr lang="en-US" sz="1500" dirty="0">
                <a:solidFill>
                  <a:srgbClr val="525D6B"/>
                </a:solidFill>
                <a:latin typeface="Calibri" pitchFamily="34" charset="0"/>
                <a:ea typeface="Calibri" pitchFamily="34" charset="-122"/>
                <a:cs typeface="Calibri" pitchFamily="34" charset="-120"/>
              </a:rPr>
              <a:t> — meilleure AUC, directement interprétable, rappel de 90 % sur 2024 (non vue à l'entraînement).</a:t>
            </a:r>
            <a:endParaRPr lang="en-US" sz="1500" dirty="0"/>
          </a:p>
        </p:txBody>
      </p:sp>
      <p:sp>
        <p:nvSpPr>
          <p:cNvPr id="6" name="Text 3"/>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8 / 14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INTERPRÉTATION</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Ce qui pèse sur le risque</a:t>
            </a:r>
            <a:endParaRPr lang="en-US" sz="3000" dirty="0"/>
          </a:p>
        </p:txBody>
      </p:sp>
      <p:sp>
        <p:nvSpPr>
          <p:cNvPr id="4" name="Shape 2"/>
          <p:cNvSpPr/>
          <p:nvPr/>
        </p:nvSpPr>
        <p:spPr>
          <a:xfrm>
            <a:off x="548640" y="1828800"/>
            <a:ext cx="5120640" cy="3931920"/>
          </a:xfrm>
          <a:prstGeom prst="roundRect">
            <a:avLst>
              <a:gd name="adj" fmla="val 2326"/>
            </a:avLst>
          </a:prstGeom>
          <a:solidFill>
            <a:srgbClr val="FBEEE8"/>
          </a:solidFill>
          <a:ln/>
        </p:spPr>
      </p:sp>
      <p:sp>
        <p:nvSpPr>
          <p:cNvPr id="5" name="Text 3"/>
          <p:cNvSpPr/>
          <p:nvPr/>
        </p:nvSpPr>
        <p:spPr>
          <a:xfrm>
            <a:off x="914400" y="2103120"/>
            <a:ext cx="4389120" cy="457200"/>
          </a:xfrm>
          <a:prstGeom prst="rect">
            <a:avLst/>
          </a:prstGeom>
          <a:noFill/>
          <a:ln/>
        </p:spPr>
        <p:txBody>
          <a:bodyPr wrap="square" rtlCol="0" anchor="ctr"/>
          <a:lstStyle/>
          <a:p>
            <a:pPr indent="0" marL="0">
              <a:buNone/>
            </a:pPr>
            <a:r>
              <a:rPr lang="en-US" sz="1800" b="1" dirty="0">
                <a:solidFill>
                  <a:srgbClr val="C85A3A"/>
                </a:solidFill>
                <a:latin typeface="Cambria" pitchFamily="34" charset="0"/>
                <a:ea typeface="Cambria" pitchFamily="34" charset="-122"/>
                <a:cs typeface="Cambria" pitchFamily="34" charset="-120"/>
              </a:rPr>
              <a:t>Facteurs aggravants</a:t>
            </a:r>
            <a:endParaRPr lang="en-US" sz="1800" dirty="0"/>
          </a:p>
        </p:txBody>
      </p:sp>
      <p:sp>
        <p:nvSpPr>
          <p:cNvPr id="6" name="Text 4"/>
          <p:cNvSpPr/>
          <p:nvPr/>
        </p:nvSpPr>
        <p:spPr>
          <a:xfrm>
            <a:off x="914400" y="2743200"/>
            <a:ext cx="4389120" cy="2743200"/>
          </a:xfrm>
          <a:prstGeom prst="rect">
            <a:avLst/>
          </a:prstGeom>
          <a:noFill/>
          <a:ln/>
        </p:spPr>
        <p:txBody>
          <a:bodyPr wrap="square" rtlCol="0" anchor="ctr"/>
          <a:lstStyle/>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Historique d'inondations 2005-2014</a:t>
            </a:r>
            <a:endParaRPr lang="en-US" sz="1500" dirty="0"/>
          </a:p>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Pluie extrême (24h / 72h)</a:t>
            </a:r>
            <a:endParaRPr lang="en-US" sz="1500" dirty="0"/>
          </a:p>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Indice pluie × imperméabilisation</a:t>
            </a:r>
            <a:endParaRPr lang="en-US" sz="1500" dirty="0"/>
          </a:p>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Nappe phréatique proche de la surface</a:t>
            </a:r>
            <a:endParaRPr lang="en-US" sz="1500" dirty="0"/>
          </a:p>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Zone basse (relative à la localité)</a:t>
            </a:r>
            <a:endParaRPr lang="en-US" sz="1500" dirty="0"/>
          </a:p>
        </p:txBody>
      </p:sp>
      <p:sp>
        <p:nvSpPr>
          <p:cNvPr id="7" name="Shape 5"/>
          <p:cNvSpPr/>
          <p:nvPr/>
        </p:nvSpPr>
        <p:spPr>
          <a:xfrm>
            <a:off x="5943600" y="1828800"/>
            <a:ext cx="5669280" cy="3931920"/>
          </a:xfrm>
          <a:prstGeom prst="roundRect">
            <a:avLst>
              <a:gd name="adj" fmla="val 2326"/>
            </a:avLst>
          </a:prstGeom>
          <a:solidFill>
            <a:srgbClr val="EAF5EA"/>
          </a:solidFill>
          <a:ln/>
        </p:spPr>
      </p:sp>
      <p:sp>
        <p:nvSpPr>
          <p:cNvPr id="8" name="Text 6"/>
          <p:cNvSpPr/>
          <p:nvPr/>
        </p:nvSpPr>
        <p:spPr>
          <a:xfrm>
            <a:off x="6309360" y="2103120"/>
            <a:ext cx="4937760" cy="457200"/>
          </a:xfrm>
          <a:prstGeom prst="rect">
            <a:avLst/>
          </a:prstGeom>
          <a:noFill/>
          <a:ln/>
        </p:spPr>
        <p:txBody>
          <a:bodyPr wrap="square" rtlCol="0" anchor="ctr"/>
          <a:lstStyle/>
          <a:p>
            <a:pPr indent="0" marL="0">
              <a:buNone/>
            </a:pPr>
            <a:r>
              <a:rPr lang="en-US" sz="1800" b="1" dirty="0">
                <a:solidFill>
                  <a:srgbClr val="4A9E4A"/>
                </a:solidFill>
                <a:latin typeface="Cambria" pitchFamily="34" charset="0"/>
                <a:ea typeface="Cambria" pitchFamily="34" charset="-122"/>
                <a:cs typeface="Cambria" pitchFamily="34" charset="-120"/>
              </a:rPr>
              <a:t>Facteurs protecteurs</a:t>
            </a:r>
            <a:endParaRPr lang="en-US" sz="1800" dirty="0"/>
          </a:p>
        </p:txBody>
      </p:sp>
      <p:sp>
        <p:nvSpPr>
          <p:cNvPr id="9" name="Text 7"/>
          <p:cNvSpPr/>
          <p:nvPr/>
        </p:nvSpPr>
        <p:spPr>
          <a:xfrm>
            <a:off x="6309360" y="2743200"/>
            <a:ext cx="4937760" cy="2743200"/>
          </a:xfrm>
          <a:prstGeom prst="rect">
            <a:avLst/>
          </a:prstGeom>
          <a:noFill/>
          <a:ln/>
        </p:spPr>
        <p:txBody>
          <a:bodyPr wrap="square" rtlCol="0" anchor="ctr"/>
          <a:lstStyle/>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Altitude élevée</a:t>
            </a:r>
            <a:endParaRPr lang="en-US" sz="1500" dirty="0"/>
          </a:p>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Assainissement complet</a:t>
            </a:r>
            <a:endParaRPr lang="en-US" sz="1500" dirty="0"/>
          </a:p>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Pente plus marquée</a:t>
            </a:r>
            <a:endParaRPr lang="en-US" sz="1500" dirty="0"/>
          </a:p>
          <a:p>
            <a:pPr marL="342900" indent="-342900">
              <a:lnSpc>
                <a:spcPts val="2400"/>
              </a:lnSpc>
              <a:spcAft>
                <a:spcPts val="800"/>
              </a:spcAft>
              <a:buSzPct val="100000"/>
              <a:buChar char="•"/>
            </a:pPr>
            <a:r>
              <a:rPr lang="en-US" sz="1500" dirty="0">
                <a:solidFill>
                  <a:srgbClr val="16213D"/>
                </a:solidFill>
                <a:latin typeface="Calibri" pitchFamily="34" charset="0"/>
                <a:ea typeface="Calibri" pitchFamily="34" charset="-122"/>
                <a:cs typeface="Calibri" pitchFamily="34" charset="-120"/>
              </a:rPr>
              <a:t>Éloignement du plan d'eau</a:t>
            </a:r>
            <a:endParaRPr lang="en-US" sz="1500" dirty="0"/>
          </a:p>
        </p:txBody>
      </p:sp>
      <p:sp>
        <p:nvSpPr>
          <p:cNvPr id="10" name="Text 8"/>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9 / 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CARTOGRAPHIE DU RISQUE</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2800" b="1" dirty="0">
                <a:solidFill>
                  <a:srgbClr val="16213D"/>
                </a:solidFill>
                <a:latin typeface="Cambria" pitchFamily="34" charset="0"/>
                <a:ea typeface="Cambria" pitchFamily="34" charset="-122"/>
                <a:cs typeface="Cambria" pitchFamily="34" charset="-120"/>
              </a:rPr>
              <a:t>Scénario de pluie extrême : 120 mm/24h</a:t>
            </a:r>
            <a:endParaRPr lang="en-US" sz="2800" dirty="0"/>
          </a:p>
        </p:txBody>
      </p:sp>
      <p:sp>
        <p:nvSpPr>
          <p:cNvPr id="4" name="Shape 2"/>
          <p:cNvSpPr/>
          <p:nvPr/>
        </p:nvSpPr>
        <p:spPr>
          <a:xfrm>
            <a:off x="548640" y="1874520"/>
            <a:ext cx="5120640" cy="2743200"/>
          </a:xfrm>
          <a:prstGeom prst="roundRect">
            <a:avLst>
              <a:gd name="adj" fmla="val 3333"/>
            </a:avLst>
          </a:prstGeom>
          <a:solidFill>
            <a:srgbClr val="FFFFFF"/>
          </a:solidFill>
          <a:ln w="12700">
            <a:solidFill>
              <a:srgbClr val="E3E6E4"/>
            </a:solidFill>
            <a:prstDash val="solid"/>
          </a:ln>
        </p:spPr>
      </p:sp>
      <p:sp>
        <p:nvSpPr>
          <p:cNvPr id="5" name="Text 3"/>
          <p:cNvSpPr/>
          <p:nvPr/>
        </p:nvSpPr>
        <p:spPr>
          <a:xfrm>
            <a:off x="548640" y="2194560"/>
            <a:ext cx="5120640" cy="914400"/>
          </a:xfrm>
          <a:prstGeom prst="rect">
            <a:avLst/>
          </a:prstGeom>
          <a:noFill/>
          <a:ln/>
        </p:spPr>
        <p:txBody>
          <a:bodyPr wrap="square" rtlCol="0" anchor="ctr"/>
          <a:lstStyle/>
          <a:p>
            <a:pPr algn="ctr" indent="0" marL="0">
              <a:buNone/>
            </a:pPr>
            <a:r>
              <a:rPr lang="en-US" sz="3000" b="1" dirty="0">
                <a:solidFill>
                  <a:srgbClr val="525D6B"/>
                </a:solidFill>
                <a:latin typeface="Cambria" pitchFamily="34" charset="0"/>
                <a:ea typeface="Cambria" pitchFamily="34" charset="-122"/>
                <a:cs typeface="Cambria" pitchFamily="34" charset="-120"/>
              </a:rPr>
              <a:t>21,6 %  </a:t>
            </a:r>
            <a:pPr algn="ctr" indent="0" marL="0">
              <a:buNone/>
            </a:pPr>
            <a:r>
              <a:rPr lang="en-US" sz="2400" dirty="0">
                <a:solidFill>
                  <a:srgbClr val="525D6B"/>
                </a:solidFill>
                <a:latin typeface="Cambria" pitchFamily="34" charset="0"/>
                <a:ea typeface="Cambria" pitchFamily="34" charset="-122"/>
                <a:cs typeface="Cambria" pitchFamily="34" charset="-120"/>
              </a:rPr>
              <a:t>→  </a:t>
            </a:r>
            <a:pPr algn="ctr" indent="0" marL="0">
              <a:buNone/>
            </a:pPr>
            <a:r>
              <a:rPr lang="en-US" sz="4000" b="1" dirty="0">
                <a:solidFill>
                  <a:srgbClr val="C85A3A"/>
                </a:solidFill>
                <a:latin typeface="Cambria" pitchFamily="34" charset="0"/>
                <a:ea typeface="Cambria" pitchFamily="34" charset="-122"/>
                <a:cs typeface="Cambria" pitchFamily="34" charset="-120"/>
              </a:rPr>
              <a:t>84,0 %</a:t>
            </a:r>
            <a:endParaRPr lang="en-US" sz="3000" dirty="0"/>
          </a:p>
        </p:txBody>
      </p:sp>
      <p:sp>
        <p:nvSpPr>
          <p:cNvPr id="6" name="Text 4"/>
          <p:cNvSpPr/>
          <p:nvPr/>
        </p:nvSpPr>
        <p:spPr>
          <a:xfrm>
            <a:off x="822960" y="3291840"/>
            <a:ext cx="4572000" cy="1097280"/>
          </a:xfrm>
          <a:prstGeom prst="rect">
            <a:avLst/>
          </a:prstGeom>
          <a:noFill/>
          <a:ln/>
        </p:spPr>
        <p:txBody>
          <a:bodyPr wrap="square" rtlCol="0" anchor="ctr"/>
          <a:lstStyle/>
          <a:p>
            <a:pPr algn="ctr" indent="0" marL="0">
              <a:buNone/>
            </a:pPr>
            <a:r>
              <a:rPr lang="en-US" sz="1300" dirty="0">
                <a:solidFill>
                  <a:srgbClr val="525D6B"/>
                </a:solidFill>
                <a:latin typeface="Calibri" pitchFamily="34" charset="0"/>
                <a:ea typeface="Calibri" pitchFamily="34" charset="-122"/>
                <a:cs typeface="Calibri" pitchFamily="34" charset="-120"/>
              </a:rPr>
              <a:t>Probabilité moyenne d'inondation : climat normal vs scénario extrême (99ᵉ centile historique)</a:t>
            </a:r>
            <a:endParaRPr lang="en-US" sz="1300" dirty="0"/>
          </a:p>
        </p:txBody>
      </p:sp>
      <p:sp>
        <p:nvSpPr>
          <p:cNvPr id="7" name="Shape 5"/>
          <p:cNvSpPr/>
          <p:nvPr/>
        </p:nvSpPr>
        <p:spPr>
          <a:xfrm>
            <a:off x="5943600" y="1874520"/>
            <a:ext cx="5669280" cy="2743200"/>
          </a:xfrm>
          <a:prstGeom prst="roundRect">
            <a:avLst>
              <a:gd name="adj" fmla="val 3333"/>
            </a:avLst>
          </a:prstGeom>
          <a:solidFill>
            <a:srgbClr val="FFFFFF"/>
          </a:solidFill>
          <a:ln w="12700">
            <a:solidFill>
              <a:srgbClr val="E3E6E4"/>
            </a:solidFill>
            <a:prstDash val="solid"/>
          </a:ln>
        </p:spPr>
      </p:sp>
      <p:sp>
        <p:nvSpPr>
          <p:cNvPr id="8" name="Text 6"/>
          <p:cNvSpPr/>
          <p:nvPr/>
        </p:nvSpPr>
        <p:spPr>
          <a:xfrm>
            <a:off x="6309360" y="2057400"/>
            <a:ext cx="4937760" cy="365760"/>
          </a:xfrm>
          <a:prstGeom prst="rect">
            <a:avLst/>
          </a:prstGeom>
          <a:noFill/>
          <a:ln/>
        </p:spPr>
        <p:txBody>
          <a:bodyPr wrap="square" rtlCol="0" anchor="ctr"/>
          <a:lstStyle/>
          <a:p>
            <a:pPr indent="0" marL="0">
              <a:buNone/>
            </a:pPr>
            <a:r>
              <a:rPr lang="en-US" sz="1600" b="1" dirty="0">
                <a:solidFill>
                  <a:srgbClr val="16213D"/>
                </a:solidFill>
                <a:latin typeface="Cambria" pitchFamily="34" charset="0"/>
                <a:ea typeface="Cambria" pitchFamily="34" charset="-122"/>
                <a:cs typeface="Cambria" pitchFamily="34" charset="-120"/>
              </a:rPr>
              <a:t>4 niveaux de risque</a:t>
            </a:r>
            <a:endParaRPr lang="en-US" sz="1600" dirty="0"/>
          </a:p>
        </p:txBody>
      </p:sp>
      <p:sp>
        <p:nvSpPr>
          <p:cNvPr id="9" name="Shape 7"/>
          <p:cNvSpPr/>
          <p:nvPr/>
        </p:nvSpPr>
        <p:spPr>
          <a:xfrm>
            <a:off x="6309360" y="2560320"/>
            <a:ext cx="201168" cy="201168"/>
          </a:xfrm>
          <a:prstGeom prst="ellipse">
            <a:avLst/>
          </a:prstGeom>
          <a:solidFill>
            <a:srgbClr val="4A9E4A"/>
          </a:solidFill>
          <a:ln/>
        </p:spPr>
      </p:sp>
      <p:sp>
        <p:nvSpPr>
          <p:cNvPr id="10" name="Text 8"/>
          <p:cNvSpPr/>
          <p:nvPr/>
        </p:nvSpPr>
        <p:spPr>
          <a:xfrm>
            <a:off x="6675120" y="2468880"/>
            <a:ext cx="4572000" cy="365760"/>
          </a:xfrm>
          <a:prstGeom prst="rect">
            <a:avLst/>
          </a:prstGeom>
          <a:noFill/>
          <a:ln/>
        </p:spPr>
        <p:txBody>
          <a:bodyPr wrap="square" rtlCol="0" anchor="ctr"/>
          <a:lstStyle/>
          <a:p>
            <a:pPr indent="0" marL="0">
              <a:buNone/>
            </a:pPr>
            <a:r>
              <a:rPr lang="en-US" sz="1400" dirty="0">
                <a:solidFill>
                  <a:srgbClr val="16213D"/>
                </a:solidFill>
                <a:latin typeface="Calibri" pitchFamily="34" charset="0"/>
                <a:ea typeface="Calibri" pitchFamily="34" charset="-122"/>
                <a:cs typeface="Calibri" pitchFamily="34" charset="-120"/>
              </a:rPr>
              <a:t>Faible (&lt;25%)</a:t>
            </a:r>
            <a:endParaRPr lang="en-US" sz="1400" dirty="0"/>
          </a:p>
        </p:txBody>
      </p:sp>
      <p:sp>
        <p:nvSpPr>
          <p:cNvPr id="11" name="Shape 9"/>
          <p:cNvSpPr/>
          <p:nvPr/>
        </p:nvSpPr>
        <p:spPr>
          <a:xfrm>
            <a:off x="6309360" y="3063240"/>
            <a:ext cx="201168" cy="201168"/>
          </a:xfrm>
          <a:prstGeom prst="ellipse">
            <a:avLst/>
          </a:prstGeom>
          <a:solidFill>
            <a:srgbClr val="C9A227"/>
          </a:solidFill>
          <a:ln/>
        </p:spPr>
      </p:sp>
      <p:sp>
        <p:nvSpPr>
          <p:cNvPr id="12" name="Text 10"/>
          <p:cNvSpPr/>
          <p:nvPr/>
        </p:nvSpPr>
        <p:spPr>
          <a:xfrm>
            <a:off x="6675120" y="2971800"/>
            <a:ext cx="4572000" cy="365760"/>
          </a:xfrm>
          <a:prstGeom prst="rect">
            <a:avLst/>
          </a:prstGeom>
          <a:noFill/>
          <a:ln/>
        </p:spPr>
        <p:txBody>
          <a:bodyPr wrap="square" rtlCol="0" anchor="ctr"/>
          <a:lstStyle/>
          <a:p>
            <a:pPr indent="0" marL="0">
              <a:buNone/>
            </a:pPr>
            <a:r>
              <a:rPr lang="en-US" sz="1400" dirty="0">
                <a:solidFill>
                  <a:srgbClr val="16213D"/>
                </a:solidFill>
                <a:latin typeface="Calibri" pitchFamily="34" charset="0"/>
                <a:ea typeface="Calibri" pitchFamily="34" charset="-122"/>
                <a:cs typeface="Calibri" pitchFamily="34" charset="-120"/>
              </a:rPr>
              <a:t>Modéré (25-49%)</a:t>
            </a:r>
            <a:endParaRPr lang="en-US" sz="1400" dirty="0"/>
          </a:p>
        </p:txBody>
      </p:sp>
      <p:sp>
        <p:nvSpPr>
          <p:cNvPr id="13" name="Shape 11"/>
          <p:cNvSpPr/>
          <p:nvPr/>
        </p:nvSpPr>
        <p:spPr>
          <a:xfrm>
            <a:off x="6309360" y="3566160"/>
            <a:ext cx="201168" cy="201168"/>
          </a:xfrm>
          <a:prstGeom prst="ellipse">
            <a:avLst/>
          </a:prstGeom>
          <a:solidFill>
            <a:srgbClr val="E08A2B"/>
          </a:solidFill>
          <a:ln/>
        </p:spPr>
      </p:sp>
      <p:sp>
        <p:nvSpPr>
          <p:cNvPr id="14" name="Text 12"/>
          <p:cNvSpPr/>
          <p:nvPr/>
        </p:nvSpPr>
        <p:spPr>
          <a:xfrm>
            <a:off x="6675120" y="3474720"/>
            <a:ext cx="4572000" cy="365760"/>
          </a:xfrm>
          <a:prstGeom prst="rect">
            <a:avLst/>
          </a:prstGeom>
          <a:noFill/>
          <a:ln/>
        </p:spPr>
        <p:txBody>
          <a:bodyPr wrap="square" rtlCol="0" anchor="ctr"/>
          <a:lstStyle/>
          <a:p>
            <a:pPr indent="0" marL="0">
              <a:buNone/>
            </a:pPr>
            <a:r>
              <a:rPr lang="en-US" sz="1400" dirty="0">
                <a:solidFill>
                  <a:srgbClr val="16213D"/>
                </a:solidFill>
                <a:latin typeface="Calibri" pitchFamily="34" charset="0"/>
                <a:ea typeface="Calibri" pitchFamily="34" charset="-122"/>
                <a:cs typeface="Calibri" pitchFamily="34" charset="-120"/>
              </a:rPr>
              <a:t>Élevé (50-74%)</a:t>
            </a:r>
            <a:endParaRPr lang="en-US" sz="1400" dirty="0"/>
          </a:p>
        </p:txBody>
      </p:sp>
      <p:sp>
        <p:nvSpPr>
          <p:cNvPr id="15" name="Shape 13"/>
          <p:cNvSpPr/>
          <p:nvPr/>
        </p:nvSpPr>
        <p:spPr>
          <a:xfrm>
            <a:off x="6309360" y="4069080"/>
            <a:ext cx="201168" cy="201168"/>
          </a:xfrm>
          <a:prstGeom prst="ellipse">
            <a:avLst/>
          </a:prstGeom>
          <a:solidFill>
            <a:srgbClr val="C0392B"/>
          </a:solidFill>
          <a:ln/>
        </p:spPr>
      </p:sp>
      <p:sp>
        <p:nvSpPr>
          <p:cNvPr id="16" name="Text 14"/>
          <p:cNvSpPr/>
          <p:nvPr/>
        </p:nvSpPr>
        <p:spPr>
          <a:xfrm>
            <a:off x="6675120" y="3977640"/>
            <a:ext cx="4572000" cy="365760"/>
          </a:xfrm>
          <a:prstGeom prst="rect">
            <a:avLst/>
          </a:prstGeom>
          <a:noFill/>
          <a:ln/>
        </p:spPr>
        <p:txBody>
          <a:bodyPr wrap="square" rtlCol="0" anchor="ctr"/>
          <a:lstStyle/>
          <a:p>
            <a:pPr indent="0" marL="0">
              <a:buNone/>
            </a:pPr>
            <a:r>
              <a:rPr lang="en-US" sz="1400" dirty="0">
                <a:solidFill>
                  <a:srgbClr val="16213D"/>
                </a:solidFill>
                <a:latin typeface="Calibri" pitchFamily="34" charset="0"/>
                <a:ea typeface="Calibri" pitchFamily="34" charset="-122"/>
                <a:cs typeface="Calibri" pitchFamily="34" charset="-120"/>
              </a:rPr>
              <a:t>Très élevé (≥75%)</a:t>
            </a:r>
            <a:endParaRPr lang="en-US" sz="1400" dirty="0"/>
          </a:p>
        </p:txBody>
      </p:sp>
      <p:sp>
        <p:nvSpPr>
          <p:cNvPr id="17" name="Text 15"/>
          <p:cNvSpPr/>
          <p:nvPr/>
        </p:nvSpPr>
        <p:spPr>
          <a:xfrm>
            <a:off x="548640" y="4846320"/>
            <a:ext cx="10698480" cy="548640"/>
          </a:xfrm>
          <a:prstGeom prst="rect">
            <a:avLst/>
          </a:prstGeom>
          <a:noFill/>
          <a:ln/>
        </p:spPr>
        <p:txBody>
          <a:bodyPr wrap="square" rtlCol="0" anchor="ctr"/>
          <a:lstStyle/>
          <a:p>
            <a:pPr indent="0" marL="0">
              <a:buNone/>
            </a:pPr>
            <a:r>
              <a:rPr lang="en-US" sz="1400" dirty="0">
                <a:solidFill>
                  <a:srgbClr val="525D6B"/>
                </a:solidFill>
                <a:latin typeface="Calibri" pitchFamily="34" charset="0"/>
                <a:ea typeface="Calibri" pitchFamily="34" charset="-122"/>
                <a:cs typeface="Calibri" pitchFamily="34" charset="-120"/>
              </a:rPr>
              <a:t>Cartes interactives Folium fournies séparément : vue nationale + zoom banlieue de Dakar, avec info-bulles (localité, probabilité, facteur dominant).</a:t>
            </a:r>
            <a:endParaRPr lang="en-US" sz="1400" dirty="0"/>
          </a:p>
        </p:txBody>
      </p:sp>
      <p:sp>
        <p:nvSpPr>
          <p:cNvPr id="18" name="Text 16"/>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10 /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RESTITUTION</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Localités prioritaires</a:t>
            </a:r>
            <a:endParaRPr lang="en-US" sz="3000" dirty="0"/>
          </a:p>
        </p:txBody>
      </p:sp>
      <p:sp>
        <p:nvSpPr>
          <p:cNvPr id="4" name="Text 2"/>
          <p:cNvSpPr/>
          <p:nvPr/>
        </p:nvSpPr>
        <p:spPr>
          <a:xfrm>
            <a:off x="548640" y="1600200"/>
            <a:ext cx="10515600" cy="365760"/>
          </a:xfrm>
          <a:prstGeom prst="rect">
            <a:avLst/>
          </a:prstGeom>
          <a:noFill/>
          <a:ln/>
        </p:spPr>
        <p:txBody>
          <a:bodyPr wrap="square" rtlCol="0" anchor="ctr"/>
          <a:lstStyle/>
          <a:p>
            <a:pPr indent="0" marL="0">
              <a:buNone/>
            </a:pPr>
            <a:r>
              <a:rPr lang="en-US" sz="1400" dirty="0">
                <a:solidFill>
                  <a:srgbClr val="525D6B"/>
                </a:solidFill>
                <a:latin typeface="Calibri" pitchFamily="34" charset="0"/>
                <a:ea typeface="Calibri" pitchFamily="34" charset="-122"/>
                <a:cs typeface="Calibri" pitchFamily="34" charset="-120"/>
              </a:rPr>
              <a:t>Classées par probabilité moyenne d'inondation sous le scénario extrême (top 12 sur 38 localités)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0698480" cy="3931920"/>
        </p:xfrm>
        <a:graphic>
          <a:graphicData uri="http://schemas.openxmlformats.org/drawingml/2006/table">
            <a:tbl>
              <a:tblPr/>
              <a:tblGrid>
                <a:gridCol w="640080"/>
                <a:gridCol w="3474720"/>
                <a:gridCol w="3474720"/>
                <a:gridCol w="3108960"/>
              </a:tblGrid>
              <a:tr h="302455">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Localité</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Région</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Probabilité</a:t>
                      </a:r>
                      <a:endParaRPr lang="en-US" sz="12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solidFill>
                      <a:srgbClr val="123A63"/>
                    </a:solidFill>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Saint-Louis</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Saint-Louis</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98,8%</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Malika</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Dakar</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98,0%</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Matam</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Matam</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96,8%</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Podor</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Saint-Louis</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96,6%</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Keur Massar</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Dakar</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96,0%</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Yeumbeul</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Dakar</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95,4%</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Kaolack</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Kaolack</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94,6%</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Bakel</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Tambacounda</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93,8%</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Guédiawaye</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Dakar</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93,8%</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Richard-Toll</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Saint-Louis</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93,8%</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Diamaguène</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Dakar</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93,3%</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r h="302455">
                <a:tc>
                  <a:txBody>
                    <a:bodyPr/>
                    <a:lstStyle/>
                    <a:p>
                      <a:pPr indent="0" marL="0">
                        <a:buNone/>
                      </a:pPr>
                      <a:r>
                        <a:rPr lang="en-US" sz="1100" dirty="0">
                          <a:solidFill>
                            <a:srgbClr val="16213D"/>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b="1" dirty="0">
                          <a:solidFill>
                            <a:srgbClr val="16213D"/>
                          </a:solidFill>
                          <a:latin typeface="Calibri" pitchFamily="34" charset="0"/>
                          <a:ea typeface="Calibri" pitchFamily="34" charset="-122"/>
                          <a:cs typeface="Calibri" pitchFamily="34" charset="-120"/>
                        </a:rPr>
                        <a:t>Pikine</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indent="0" marL="0">
                        <a:buNone/>
                      </a:pPr>
                      <a:r>
                        <a:rPr lang="en-US" sz="1100" dirty="0">
                          <a:solidFill>
                            <a:srgbClr val="525D6B"/>
                          </a:solidFill>
                          <a:latin typeface="Calibri" pitchFamily="34" charset="0"/>
                          <a:ea typeface="Calibri" pitchFamily="34" charset="-122"/>
                          <a:cs typeface="Calibri" pitchFamily="34" charset="-120"/>
                        </a:rPr>
                        <a:t>Dakar</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c>
                  <a:txBody>
                    <a:bodyPr/>
                    <a:lstStyle/>
                    <a:p>
                      <a:pPr algn="r" indent="0" marL="0">
                        <a:buNone/>
                      </a:pPr>
                      <a:r>
                        <a:rPr lang="en-US" sz="1100" b="1" dirty="0">
                          <a:solidFill>
                            <a:srgbClr val="C85A3A"/>
                          </a:solidFill>
                          <a:latin typeface="Calibri" pitchFamily="34" charset="0"/>
                          <a:ea typeface="Calibri" pitchFamily="34" charset="-122"/>
                          <a:cs typeface="Calibri" pitchFamily="34" charset="-120"/>
                        </a:rPr>
                        <a:t>93,2%</a:t>
                      </a:r>
                      <a:endParaRPr lang="en-US" sz="1100" dirty="0">
                        <a:latin typeface="Calibri" charset="0"/>
                        <a:ea typeface="Calibri" charset="0"/>
                        <a:cs typeface="Calibri" charset="0"/>
                      </a:endParaRPr>
                    </a:p>
                  </a:txBody>
                  <a:tcPr marL="91440" marR="91440" marT="45720" marB="45720" anchor="ctr">
                    <a:lnL w="6350" cap="flat" cmpd="sng" algn="ctr">
                      <a:solidFill>
                        <a:srgbClr val="E3E6E4"/>
                      </a:solidFill>
                      <a:prstDash val="solid"/>
                      <a:round/>
                      <a:headEnd type="none" w="med" len="med"/>
                      <a:tailEnd type="none" w="med" len="med"/>
                    </a:lnL>
                    <a:lnR w="6350" cap="flat" cmpd="sng" algn="ctr">
                      <a:solidFill>
                        <a:srgbClr val="E3E6E4"/>
                      </a:solidFill>
                      <a:prstDash val="solid"/>
                      <a:round/>
                      <a:headEnd type="none" w="med" len="med"/>
                      <a:tailEnd type="none" w="med" len="med"/>
                    </a:lnR>
                    <a:lnT w="6350" cap="flat" cmpd="sng" algn="ctr">
                      <a:solidFill>
                        <a:srgbClr val="E3E6E4"/>
                      </a:solidFill>
                      <a:prstDash val="solid"/>
                      <a:round/>
                      <a:headEnd type="none" w="med" len="med"/>
                      <a:tailEnd type="none" w="med" len="med"/>
                    </a:lnT>
                    <a:lnB w="6350" cap="flat" cmpd="sng" algn="ctr">
                      <a:solidFill>
                        <a:srgbClr val="E3E6E4"/>
                      </a:solidFill>
                      <a:prstDash val="solid"/>
                      <a:round/>
                      <a:headEnd type="none" w="med" len="med"/>
                      <a:tailEnd type="none" w="med" len="med"/>
                    </a:lnB>
                  </a:tcPr>
                </a:tc>
              </a:tr>
            </a:tbl>
          </a:graphicData>
        </a:graphic>
      </p:graphicFrame>
      <p:sp>
        <p:nvSpPr>
          <p:cNvPr id="6" name="Text 3"/>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11 / 14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RECOMMANDATIONS</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Six actions opérationnelles</a:t>
            </a:r>
            <a:endParaRPr lang="en-US" sz="3000" dirty="0"/>
          </a:p>
        </p:txBody>
      </p:sp>
      <p:sp>
        <p:nvSpPr>
          <p:cNvPr id="4" name="Shape 2"/>
          <p:cNvSpPr/>
          <p:nvPr/>
        </p:nvSpPr>
        <p:spPr>
          <a:xfrm>
            <a:off x="548640" y="1828800"/>
            <a:ext cx="3429000" cy="1737360"/>
          </a:xfrm>
          <a:prstGeom prst="roundRect">
            <a:avLst>
              <a:gd name="adj" fmla="val 4211"/>
            </a:avLst>
          </a:prstGeom>
          <a:solidFill>
            <a:srgbClr val="FFFFFF"/>
          </a:solidFill>
          <a:ln w="12700">
            <a:solidFill>
              <a:srgbClr val="E3E6E4"/>
            </a:solidFill>
            <a:prstDash val="solid"/>
          </a:ln>
        </p:spPr>
      </p:sp>
      <p:sp>
        <p:nvSpPr>
          <p:cNvPr id="5" name="Text 3"/>
          <p:cNvSpPr/>
          <p:nvPr/>
        </p:nvSpPr>
        <p:spPr>
          <a:xfrm>
            <a:off x="777240" y="2011680"/>
            <a:ext cx="2971800" cy="640080"/>
          </a:xfrm>
          <a:prstGeom prst="rect">
            <a:avLst/>
          </a:prstGeom>
          <a:noFill/>
          <a:ln/>
        </p:spPr>
        <p:txBody>
          <a:bodyPr wrap="square" rtlCol="0" anchor="ctr"/>
          <a:lstStyle/>
          <a:p>
            <a:pPr indent="0" marL="0">
              <a:lnSpc>
                <a:spcPts val="1800"/>
              </a:lnSpc>
              <a:buNone/>
            </a:pPr>
            <a:r>
              <a:rPr lang="en-US" sz="1500" b="1" dirty="0">
                <a:solidFill>
                  <a:srgbClr val="2563A8"/>
                </a:solidFill>
                <a:latin typeface="Cambria" pitchFamily="34" charset="0"/>
                <a:ea typeface="Cambria" pitchFamily="34" charset="-122"/>
                <a:cs typeface="Cambria" pitchFamily="34" charset="-120"/>
              </a:rPr>
              <a:t>Curage &amp; bassins de rétention</a:t>
            </a:r>
            <a:endParaRPr lang="en-US" sz="1500" dirty="0"/>
          </a:p>
        </p:txBody>
      </p:sp>
      <p:sp>
        <p:nvSpPr>
          <p:cNvPr id="6" name="Text 4"/>
          <p:cNvSpPr/>
          <p:nvPr/>
        </p:nvSpPr>
        <p:spPr>
          <a:xfrm>
            <a:off x="777240" y="2697480"/>
            <a:ext cx="2971800" cy="777240"/>
          </a:xfrm>
          <a:prstGeom prst="rect">
            <a:avLst/>
          </a:prstGeom>
          <a:noFill/>
          <a:ln/>
        </p:spPr>
        <p:txBody>
          <a:bodyPr wrap="square" rtlCol="0" anchor="ctr"/>
          <a:lstStyle/>
          <a:p>
            <a:pPr indent="0" marL="0">
              <a:lnSpc>
                <a:spcPts val="1500"/>
              </a:lnSpc>
              <a:buNone/>
            </a:pPr>
            <a:r>
              <a:rPr lang="en-US" sz="1150" dirty="0">
                <a:solidFill>
                  <a:srgbClr val="525D6B"/>
                </a:solidFill>
                <a:latin typeface="Calibri" pitchFamily="34" charset="0"/>
                <a:ea typeface="Calibri" pitchFamily="34" charset="-122"/>
                <a:cs typeface="Calibri" pitchFamily="34" charset="-120"/>
              </a:rPr>
              <a:t>Localités en tête de classement, avant chaque hivernage</a:t>
            </a:r>
            <a:endParaRPr lang="en-US" sz="1150" dirty="0"/>
          </a:p>
        </p:txBody>
      </p:sp>
      <p:sp>
        <p:nvSpPr>
          <p:cNvPr id="7" name="Shape 5"/>
          <p:cNvSpPr/>
          <p:nvPr/>
        </p:nvSpPr>
        <p:spPr>
          <a:xfrm>
            <a:off x="4160520" y="1828800"/>
            <a:ext cx="3429000" cy="1737360"/>
          </a:xfrm>
          <a:prstGeom prst="roundRect">
            <a:avLst>
              <a:gd name="adj" fmla="val 4211"/>
            </a:avLst>
          </a:prstGeom>
          <a:solidFill>
            <a:srgbClr val="FFFFFF"/>
          </a:solidFill>
          <a:ln w="12700">
            <a:solidFill>
              <a:srgbClr val="E3E6E4"/>
            </a:solidFill>
            <a:prstDash val="solid"/>
          </a:ln>
        </p:spPr>
      </p:sp>
      <p:sp>
        <p:nvSpPr>
          <p:cNvPr id="8" name="Text 6"/>
          <p:cNvSpPr/>
          <p:nvPr/>
        </p:nvSpPr>
        <p:spPr>
          <a:xfrm>
            <a:off x="4389120" y="2011680"/>
            <a:ext cx="2971800" cy="640080"/>
          </a:xfrm>
          <a:prstGeom prst="rect">
            <a:avLst/>
          </a:prstGeom>
          <a:noFill/>
          <a:ln/>
        </p:spPr>
        <p:txBody>
          <a:bodyPr wrap="square" rtlCol="0" anchor="ctr"/>
          <a:lstStyle/>
          <a:p>
            <a:pPr indent="0" marL="0">
              <a:lnSpc>
                <a:spcPts val="1800"/>
              </a:lnSpc>
              <a:buNone/>
            </a:pPr>
            <a:r>
              <a:rPr lang="en-US" sz="1500" b="1" dirty="0">
                <a:solidFill>
                  <a:srgbClr val="2563A8"/>
                </a:solidFill>
                <a:latin typeface="Cambria" pitchFamily="34" charset="0"/>
                <a:ea typeface="Cambria" pitchFamily="34" charset="-122"/>
                <a:cs typeface="Cambria" pitchFamily="34" charset="-120"/>
              </a:rPr>
              <a:t>Pompage renforcé</a:t>
            </a:r>
            <a:endParaRPr lang="en-US" sz="1500" dirty="0"/>
          </a:p>
        </p:txBody>
      </p:sp>
      <p:sp>
        <p:nvSpPr>
          <p:cNvPr id="9" name="Text 7"/>
          <p:cNvSpPr/>
          <p:nvPr/>
        </p:nvSpPr>
        <p:spPr>
          <a:xfrm>
            <a:off x="4389120" y="2697480"/>
            <a:ext cx="2971800" cy="777240"/>
          </a:xfrm>
          <a:prstGeom prst="rect">
            <a:avLst/>
          </a:prstGeom>
          <a:noFill/>
          <a:ln/>
        </p:spPr>
        <p:txBody>
          <a:bodyPr wrap="square" rtlCol="0" anchor="ctr"/>
          <a:lstStyle/>
          <a:p>
            <a:pPr indent="0" marL="0">
              <a:lnSpc>
                <a:spcPts val="1500"/>
              </a:lnSpc>
              <a:buNone/>
            </a:pPr>
            <a:r>
              <a:rPr lang="en-US" sz="1150" dirty="0">
                <a:solidFill>
                  <a:srgbClr val="525D6B"/>
                </a:solidFill>
                <a:latin typeface="Calibri" pitchFamily="34" charset="0"/>
                <a:ea typeface="Calibri" pitchFamily="34" charset="-122"/>
                <a:cs typeface="Calibri" pitchFamily="34" charset="-120"/>
              </a:rPr>
              <a:t>Zones humides (Niayes/bas-fonds) et zones basses relatives</a:t>
            </a:r>
            <a:endParaRPr lang="en-US" sz="1150" dirty="0"/>
          </a:p>
        </p:txBody>
      </p:sp>
      <p:sp>
        <p:nvSpPr>
          <p:cNvPr id="10" name="Shape 8"/>
          <p:cNvSpPr/>
          <p:nvPr/>
        </p:nvSpPr>
        <p:spPr>
          <a:xfrm>
            <a:off x="7772400" y="1828800"/>
            <a:ext cx="3429000" cy="1737360"/>
          </a:xfrm>
          <a:prstGeom prst="roundRect">
            <a:avLst>
              <a:gd name="adj" fmla="val 4211"/>
            </a:avLst>
          </a:prstGeom>
          <a:solidFill>
            <a:srgbClr val="FFFFFF"/>
          </a:solidFill>
          <a:ln w="12700">
            <a:solidFill>
              <a:srgbClr val="E3E6E4"/>
            </a:solidFill>
            <a:prstDash val="solid"/>
          </a:ln>
        </p:spPr>
      </p:sp>
      <p:sp>
        <p:nvSpPr>
          <p:cNvPr id="11" name="Text 9"/>
          <p:cNvSpPr/>
          <p:nvPr/>
        </p:nvSpPr>
        <p:spPr>
          <a:xfrm>
            <a:off x="8001000" y="2011680"/>
            <a:ext cx="2971800" cy="640080"/>
          </a:xfrm>
          <a:prstGeom prst="rect">
            <a:avLst/>
          </a:prstGeom>
          <a:noFill/>
          <a:ln/>
        </p:spPr>
        <p:txBody>
          <a:bodyPr wrap="square" rtlCol="0" anchor="ctr"/>
          <a:lstStyle/>
          <a:p>
            <a:pPr indent="0" marL="0">
              <a:lnSpc>
                <a:spcPts val="1800"/>
              </a:lnSpc>
              <a:buNone/>
            </a:pPr>
            <a:r>
              <a:rPr lang="en-US" sz="1500" b="1" dirty="0">
                <a:solidFill>
                  <a:srgbClr val="2563A8"/>
                </a:solidFill>
                <a:latin typeface="Cambria" pitchFamily="34" charset="0"/>
                <a:ea typeface="Cambria" pitchFamily="34" charset="-122"/>
                <a:cs typeface="Cambria" pitchFamily="34" charset="-120"/>
              </a:rPr>
              <a:t>Encadrement de la construction</a:t>
            </a:r>
            <a:endParaRPr lang="en-US" sz="1500" dirty="0"/>
          </a:p>
        </p:txBody>
      </p:sp>
      <p:sp>
        <p:nvSpPr>
          <p:cNvPr id="12" name="Text 10"/>
          <p:cNvSpPr/>
          <p:nvPr/>
        </p:nvSpPr>
        <p:spPr>
          <a:xfrm>
            <a:off x="8001000" y="2697480"/>
            <a:ext cx="2971800" cy="777240"/>
          </a:xfrm>
          <a:prstGeom prst="rect">
            <a:avLst/>
          </a:prstGeom>
          <a:noFill/>
          <a:ln/>
        </p:spPr>
        <p:txBody>
          <a:bodyPr wrap="square" rtlCol="0" anchor="ctr"/>
          <a:lstStyle/>
          <a:p>
            <a:pPr indent="0" marL="0">
              <a:lnSpc>
                <a:spcPts val="1500"/>
              </a:lnSpc>
              <a:buNone/>
            </a:pPr>
            <a:r>
              <a:rPr lang="en-US" sz="1150" dirty="0">
                <a:solidFill>
                  <a:srgbClr val="525D6B"/>
                </a:solidFill>
                <a:latin typeface="Calibri" pitchFamily="34" charset="0"/>
                <a:ea typeface="Calibri" pitchFamily="34" charset="-122"/>
                <a:cs typeface="Calibri" pitchFamily="34" charset="-120"/>
              </a:rPr>
              <a:t>Zones basses, nappe peu profonde, fort historique</a:t>
            </a:r>
            <a:endParaRPr lang="en-US" sz="1150" dirty="0"/>
          </a:p>
        </p:txBody>
      </p:sp>
      <p:sp>
        <p:nvSpPr>
          <p:cNvPr id="13" name="Shape 11"/>
          <p:cNvSpPr/>
          <p:nvPr/>
        </p:nvSpPr>
        <p:spPr>
          <a:xfrm>
            <a:off x="548640" y="3749040"/>
            <a:ext cx="3429000" cy="1737360"/>
          </a:xfrm>
          <a:prstGeom prst="roundRect">
            <a:avLst>
              <a:gd name="adj" fmla="val 4211"/>
            </a:avLst>
          </a:prstGeom>
          <a:solidFill>
            <a:srgbClr val="FFFFFF"/>
          </a:solidFill>
          <a:ln w="12700">
            <a:solidFill>
              <a:srgbClr val="E3E6E4"/>
            </a:solidFill>
            <a:prstDash val="solid"/>
          </a:ln>
        </p:spPr>
      </p:sp>
      <p:sp>
        <p:nvSpPr>
          <p:cNvPr id="14" name="Text 12"/>
          <p:cNvSpPr/>
          <p:nvPr/>
        </p:nvSpPr>
        <p:spPr>
          <a:xfrm>
            <a:off x="777240" y="3931920"/>
            <a:ext cx="2971800" cy="640080"/>
          </a:xfrm>
          <a:prstGeom prst="rect">
            <a:avLst/>
          </a:prstGeom>
          <a:noFill/>
          <a:ln/>
        </p:spPr>
        <p:txBody>
          <a:bodyPr wrap="square" rtlCol="0" anchor="ctr"/>
          <a:lstStyle/>
          <a:p>
            <a:pPr indent="0" marL="0">
              <a:lnSpc>
                <a:spcPts val="1800"/>
              </a:lnSpc>
              <a:buNone/>
            </a:pPr>
            <a:r>
              <a:rPr lang="en-US" sz="1500" b="1" dirty="0">
                <a:solidFill>
                  <a:srgbClr val="2563A8"/>
                </a:solidFill>
                <a:latin typeface="Cambria" pitchFamily="34" charset="0"/>
                <a:ea typeface="Cambria" pitchFamily="34" charset="-122"/>
                <a:cs typeface="Cambria" pitchFamily="34" charset="-120"/>
              </a:rPr>
              <a:t>Alerte précoce par SMS</a:t>
            </a:r>
            <a:endParaRPr lang="en-US" sz="1500" dirty="0"/>
          </a:p>
        </p:txBody>
      </p:sp>
      <p:sp>
        <p:nvSpPr>
          <p:cNvPr id="15" name="Text 13"/>
          <p:cNvSpPr/>
          <p:nvPr/>
        </p:nvSpPr>
        <p:spPr>
          <a:xfrm>
            <a:off x="777240" y="4617720"/>
            <a:ext cx="2971800" cy="777240"/>
          </a:xfrm>
          <a:prstGeom prst="rect">
            <a:avLst/>
          </a:prstGeom>
          <a:noFill/>
          <a:ln/>
        </p:spPr>
        <p:txBody>
          <a:bodyPr wrap="square" rtlCol="0" anchor="ctr"/>
          <a:lstStyle/>
          <a:p>
            <a:pPr indent="0" marL="0">
              <a:lnSpc>
                <a:spcPts val="1500"/>
              </a:lnSpc>
              <a:buNone/>
            </a:pPr>
            <a:r>
              <a:rPr lang="en-US" sz="1150" dirty="0">
                <a:solidFill>
                  <a:srgbClr val="525D6B"/>
                </a:solidFill>
                <a:latin typeface="Calibri" pitchFamily="34" charset="0"/>
                <a:ea typeface="Calibri" pitchFamily="34" charset="-122"/>
                <a:cs typeface="Calibri" pitchFamily="34" charset="-120"/>
              </a:rPr>
              <a:t>ANACIM + opérateurs, seuil &gt; 80-100 mm/24h</a:t>
            </a:r>
            <a:endParaRPr lang="en-US" sz="1150" dirty="0"/>
          </a:p>
        </p:txBody>
      </p:sp>
      <p:sp>
        <p:nvSpPr>
          <p:cNvPr id="16" name="Shape 14"/>
          <p:cNvSpPr/>
          <p:nvPr/>
        </p:nvSpPr>
        <p:spPr>
          <a:xfrm>
            <a:off x="4160520" y="3749040"/>
            <a:ext cx="3429000" cy="1737360"/>
          </a:xfrm>
          <a:prstGeom prst="roundRect">
            <a:avLst>
              <a:gd name="adj" fmla="val 4211"/>
            </a:avLst>
          </a:prstGeom>
          <a:solidFill>
            <a:srgbClr val="FFFFFF"/>
          </a:solidFill>
          <a:ln w="12700">
            <a:solidFill>
              <a:srgbClr val="E3E6E4"/>
            </a:solidFill>
            <a:prstDash val="solid"/>
          </a:ln>
        </p:spPr>
      </p:sp>
      <p:sp>
        <p:nvSpPr>
          <p:cNvPr id="17" name="Text 15"/>
          <p:cNvSpPr/>
          <p:nvPr/>
        </p:nvSpPr>
        <p:spPr>
          <a:xfrm>
            <a:off x="4389120" y="3931920"/>
            <a:ext cx="2971800" cy="640080"/>
          </a:xfrm>
          <a:prstGeom prst="rect">
            <a:avLst/>
          </a:prstGeom>
          <a:noFill/>
          <a:ln/>
        </p:spPr>
        <p:txBody>
          <a:bodyPr wrap="square" rtlCol="0" anchor="ctr"/>
          <a:lstStyle/>
          <a:p>
            <a:pPr indent="0" marL="0">
              <a:lnSpc>
                <a:spcPts val="1800"/>
              </a:lnSpc>
              <a:buNone/>
            </a:pPr>
            <a:r>
              <a:rPr lang="en-US" sz="1500" b="1" dirty="0">
                <a:solidFill>
                  <a:srgbClr val="2563A8"/>
                </a:solidFill>
                <a:latin typeface="Cambria" pitchFamily="34" charset="0"/>
                <a:ea typeface="Cambria" pitchFamily="34" charset="-122"/>
                <a:cs typeface="Cambria" pitchFamily="34" charset="-120"/>
              </a:rPr>
              <a:t>Extension de l'assainissement</a:t>
            </a:r>
            <a:endParaRPr lang="en-US" sz="1500" dirty="0"/>
          </a:p>
        </p:txBody>
      </p:sp>
      <p:sp>
        <p:nvSpPr>
          <p:cNvPr id="18" name="Text 16"/>
          <p:cNvSpPr/>
          <p:nvPr/>
        </p:nvSpPr>
        <p:spPr>
          <a:xfrm>
            <a:off x="4389120" y="4617720"/>
            <a:ext cx="2971800" cy="777240"/>
          </a:xfrm>
          <a:prstGeom prst="rect">
            <a:avLst/>
          </a:prstGeom>
          <a:noFill/>
          <a:ln/>
        </p:spPr>
        <p:txBody>
          <a:bodyPr wrap="square" rtlCol="0" anchor="ctr"/>
          <a:lstStyle/>
          <a:p>
            <a:pPr indent="0" marL="0">
              <a:lnSpc>
                <a:spcPts val="1500"/>
              </a:lnSpc>
              <a:buNone/>
            </a:pPr>
            <a:r>
              <a:rPr lang="en-US" sz="1150" dirty="0">
                <a:solidFill>
                  <a:srgbClr val="525D6B"/>
                </a:solidFill>
                <a:latin typeface="Calibri" pitchFamily="34" charset="0"/>
                <a:ea typeface="Calibri" pitchFamily="34" charset="-122"/>
                <a:cs typeface="Calibri" pitchFamily="34" charset="-120"/>
              </a:rPr>
              <a:t>Aucun → Partiel → Complet : le levier le plus direct</a:t>
            </a:r>
            <a:endParaRPr lang="en-US" sz="1150" dirty="0"/>
          </a:p>
        </p:txBody>
      </p:sp>
      <p:sp>
        <p:nvSpPr>
          <p:cNvPr id="19" name="Shape 17"/>
          <p:cNvSpPr/>
          <p:nvPr/>
        </p:nvSpPr>
        <p:spPr>
          <a:xfrm>
            <a:off x="7772400" y="3749040"/>
            <a:ext cx="3429000" cy="1737360"/>
          </a:xfrm>
          <a:prstGeom prst="roundRect">
            <a:avLst>
              <a:gd name="adj" fmla="val 4211"/>
            </a:avLst>
          </a:prstGeom>
          <a:solidFill>
            <a:srgbClr val="FFFFFF"/>
          </a:solidFill>
          <a:ln w="12700">
            <a:solidFill>
              <a:srgbClr val="E3E6E4"/>
            </a:solidFill>
            <a:prstDash val="solid"/>
          </a:ln>
        </p:spPr>
      </p:sp>
      <p:sp>
        <p:nvSpPr>
          <p:cNvPr id="20" name="Text 18"/>
          <p:cNvSpPr/>
          <p:nvPr/>
        </p:nvSpPr>
        <p:spPr>
          <a:xfrm>
            <a:off x="8001000" y="3931920"/>
            <a:ext cx="2971800" cy="640080"/>
          </a:xfrm>
          <a:prstGeom prst="rect">
            <a:avLst/>
          </a:prstGeom>
          <a:noFill/>
          <a:ln/>
        </p:spPr>
        <p:txBody>
          <a:bodyPr wrap="square" rtlCol="0" anchor="ctr"/>
          <a:lstStyle/>
          <a:p>
            <a:pPr indent="0" marL="0">
              <a:lnSpc>
                <a:spcPts val="1800"/>
              </a:lnSpc>
              <a:buNone/>
            </a:pPr>
            <a:r>
              <a:rPr lang="en-US" sz="1500" b="1" dirty="0">
                <a:solidFill>
                  <a:srgbClr val="2563A8"/>
                </a:solidFill>
                <a:latin typeface="Cambria" pitchFamily="34" charset="0"/>
                <a:ea typeface="Cambria" pitchFamily="34" charset="-122"/>
                <a:cs typeface="Cambria" pitchFamily="34" charset="-120"/>
              </a:rPr>
              <a:t>Données réelles</a:t>
            </a:r>
            <a:endParaRPr lang="en-US" sz="1500" dirty="0"/>
          </a:p>
        </p:txBody>
      </p:sp>
      <p:sp>
        <p:nvSpPr>
          <p:cNvPr id="21" name="Text 19"/>
          <p:cNvSpPr/>
          <p:nvPr/>
        </p:nvSpPr>
        <p:spPr>
          <a:xfrm>
            <a:off x="8001000" y="4617720"/>
            <a:ext cx="2971800" cy="777240"/>
          </a:xfrm>
          <a:prstGeom prst="rect">
            <a:avLst/>
          </a:prstGeom>
          <a:noFill/>
          <a:ln/>
        </p:spPr>
        <p:txBody>
          <a:bodyPr wrap="square" rtlCol="0" anchor="ctr"/>
          <a:lstStyle/>
          <a:p>
            <a:pPr indent="0" marL="0">
              <a:lnSpc>
                <a:spcPts val="1500"/>
              </a:lnSpc>
              <a:buNone/>
            </a:pPr>
            <a:r>
              <a:rPr lang="en-US" sz="1150" dirty="0">
                <a:solidFill>
                  <a:srgbClr val="525D6B"/>
                </a:solidFill>
                <a:latin typeface="Calibri" pitchFamily="34" charset="0"/>
                <a:ea typeface="Calibri" pitchFamily="34" charset="-122"/>
                <a:cs typeface="Calibri" pitchFamily="34" charset="-120"/>
              </a:rPr>
              <a:t>CHIRPS, SRTM, OpenStreetMap, Copernicus EMS, ANACIM</a:t>
            </a:r>
            <a:endParaRPr lang="en-US" sz="1150" dirty="0"/>
          </a:p>
        </p:txBody>
      </p:sp>
      <p:sp>
        <p:nvSpPr>
          <p:cNvPr id="22" name="Text 20"/>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12 / 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300" b="1" spc="200" kern="0" dirty="0">
                <a:solidFill>
                  <a:srgbClr val="2563A8"/>
                </a:solidFill>
                <a:latin typeface="Calibri" pitchFamily="34" charset="0"/>
                <a:ea typeface="Calibri" pitchFamily="34" charset="-122"/>
                <a:cs typeface="Calibri" pitchFamily="34" charset="-120"/>
              </a:rPr>
              <a:t>POUR ALLER PLUS LOIN</a:t>
            </a:r>
            <a:endParaRPr lang="en-US" sz="13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3000" b="1" dirty="0">
                <a:solidFill>
                  <a:srgbClr val="16213D"/>
                </a:solidFill>
                <a:latin typeface="Cambria" pitchFamily="34" charset="0"/>
                <a:ea typeface="Cambria" pitchFamily="34" charset="-122"/>
                <a:cs typeface="Cambria" pitchFamily="34" charset="-120"/>
              </a:rPr>
              <a:t>Trois pistes pour passer à l'échelle</a:t>
            </a:r>
            <a:endParaRPr lang="en-US" sz="3000" dirty="0"/>
          </a:p>
        </p:txBody>
      </p:sp>
      <p:sp>
        <p:nvSpPr>
          <p:cNvPr id="4" name="Shape 2"/>
          <p:cNvSpPr/>
          <p:nvPr/>
        </p:nvSpPr>
        <p:spPr>
          <a:xfrm>
            <a:off x="548640" y="1920240"/>
            <a:ext cx="3429000" cy="3657600"/>
          </a:xfrm>
          <a:prstGeom prst="roundRect">
            <a:avLst>
              <a:gd name="adj" fmla="val 2667"/>
            </a:avLst>
          </a:prstGeom>
          <a:solidFill>
            <a:srgbClr val="FFFFFF"/>
          </a:solidFill>
          <a:ln w="12700">
            <a:solidFill>
              <a:srgbClr val="E3E6E4"/>
            </a:solidFill>
            <a:prstDash val="solid"/>
          </a:ln>
        </p:spPr>
      </p:sp>
      <p:sp>
        <p:nvSpPr>
          <p:cNvPr id="5" name="Text 3"/>
          <p:cNvSpPr/>
          <p:nvPr/>
        </p:nvSpPr>
        <p:spPr>
          <a:xfrm>
            <a:off x="822960" y="2194560"/>
            <a:ext cx="2880360" cy="640080"/>
          </a:xfrm>
          <a:prstGeom prst="rect">
            <a:avLst/>
          </a:prstGeom>
          <a:noFill/>
          <a:ln/>
        </p:spPr>
        <p:txBody>
          <a:bodyPr wrap="square" rtlCol="0" anchor="ctr"/>
          <a:lstStyle/>
          <a:p>
            <a:pPr indent="0" marL="0">
              <a:buNone/>
            </a:pPr>
            <a:r>
              <a:rPr lang="en-US" sz="1800" b="1" dirty="0">
                <a:solidFill>
                  <a:srgbClr val="2563A8"/>
                </a:solidFill>
                <a:latin typeface="Cambria" pitchFamily="34" charset="0"/>
                <a:ea typeface="Cambria" pitchFamily="34" charset="-122"/>
                <a:cs typeface="Cambria" pitchFamily="34" charset="-120"/>
              </a:rPr>
              <a:t>Données réelles</a:t>
            </a:r>
            <a:endParaRPr lang="en-US" sz="1800" dirty="0"/>
          </a:p>
        </p:txBody>
      </p:sp>
      <p:sp>
        <p:nvSpPr>
          <p:cNvPr id="6" name="Text 4"/>
          <p:cNvSpPr/>
          <p:nvPr/>
        </p:nvSpPr>
        <p:spPr>
          <a:xfrm>
            <a:off x="822960" y="2926080"/>
            <a:ext cx="2880360" cy="2377440"/>
          </a:xfrm>
          <a:prstGeom prst="rect">
            <a:avLst/>
          </a:prstGeom>
          <a:noFill/>
          <a:ln/>
        </p:spPr>
        <p:txBody>
          <a:bodyPr wrap="square" rtlCol="0" anchor="ctr"/>
          <a:lstStyle/>
          <a:p>
            <a:pPr indent="0" marL="0">
              <a:lnSpc>
                <a:spcPts val="1900"/>
              </a:lnSpc>
              <a:buNone/>
            </a:pPr>
            <a:r>
              <a:rPr lang="en-US" sz="1350" dirty="0">
                <a:solidFill>
                  <a:srgbClr val="525D6B"/>
                </a:solidFill>
                <a:latin typeface="Calibri" pitchFamily="34" charset="0"/>
                <a:ea typeface="Calibri" pitchFamily="34" charset="-122"/>
                <a:cs typeface="Calibri" pitchFamily="34" charset="-120"/>
              </a:rPr>
              <a:t>Remplacer les données synthétiques par des sources réelles : CHIRPS (pluviométrie), SRTM (altitude), OpenStreetMap (occupation du sol), Copernicus EMS (inondations passées).</a:t>
            </a:r>
            <a:endParaRPr lang="en-US" sz="1350" dirty="0"/>
          </a:p>
        </p:txBody>
      </p:sp>
      <p:sp>
        <p:nvSpPr>
          <p:cNvPr id="7" name="Shape 5"/>
          <p:cNvSpPr/>
          <p:nvPr/>
        </p:nvSpPr>
        <p:spPr>
          <a:xfrm>
            <a:off x="4160520" y="1920240"/>
            <a:ext cx="3429000" cy="3657600"/>
          </a:xfrm>
          <a:prstGeom prst="roundRect">
            <a:avLst>
              <a:gd name="adj" fmla="val 2667"/>
            </a:avLst>
          </a:prstGeom>
          <a:solidFill>
            <a:srgbClr val="FFFFFF"/>
          </a:solidFill>
          <a:ln w="12700">
            <a:solidFill>
              <a:srgbClr val="E3E6E4"/>
            </a:solidFill>
            <a:prstDash val="solid"/>
          </a:ln>
        </p:spPr>
      </p:sp>
      <p:sp>
        <p:nvSpPr>
          <p:cNvPr id="8" name="Text 6"/>
          <p:cNvSpPr/>
          <p:nvPr/>
        </p:nvSpPr>
        <p:spPr>
          <a:xfrm>
            <a:off x="4434840" y="2194560"/>
            <a:ext cx="2880360" cy="640080"/>
          </a:xfrm>
          <a:prstGeom prst="rect">
            <a:avLst/>
          </a:prstGeom>
          <a:noFill/>
          <a:ln/>
        </p:spPr>
        <p:txBody>
          <a:bodyPr wrap="square" rtlCol="0" anchor="ctr"/>
          <a:lstStyle/>
          <a:p>
            <a:pPr indent="0" marL="0">
              <a:buNone/>
            </a:pPr>
            <a:r>
              <a:rPr lang="en-US" sz="1800" b="1" dirty="0">
                <a:solidFill>
                  <a:srgbClr val="2563A8"/>
                </a:solidFill>
                <a:latin typeface="Cambria" pitchFamily="34" charset="0"/>
                <a:ea typeface="Cambria" pitchFamily="34" charset="-122"/>
                <a:cs typeface="Cambria" pitchFamily="34" charset="-120"/>
              </a:rPr>
              <a:t>Télédétection</a:t>
            </a:r>
            <a:endParaRPr lang="en-US" sz="1800" dirty="0"/>
          </a:p>
        </p:txBody>
      </p:sp>
      <p:sp>
        <p:nvSpPr>
          <p:cNvPr id="9" name="Text 7"/>
          <p:cNvSpPr/>
          <p:nvPr/>
        </p:nvSpPr>
        <p:spPr>
          <a:xfrm>
            <a:off x="4434840" y="2926080"/>
            <a:ext cx="2880360" cy="2377440"/>
          </a:xfrm>
          <a:prstGeom prst="rect">
            <a:avLst/>
          </a:prstGeom>
          <a:noFill/>
          <a:ln/>
        </p:spPr>
        <p:txBody>
          <a:bodyPr wrap="square" rtlCol="0" anchor="ctr"/>
          <a:lstStyle/>
          <a:p>
            <a:pPr indent="0" marL="0">
              <a:lnSpc>
                <a:spcPts val="1900"/>
              </a:lnSpc>
              <a:buNone/>
            </a:pPr>
            <a:r>
              <a:rPr lang="en-US" sz="1350" dirty="0">
                <a:solidFill>
                  <a:srgbClr val="525D6B"/>
                </a:solidFill>
                <a:latin typeface="Calibri" pitchFamily="34" charset="0"/>
                <a:ea typeface="Calibri" pitchFamily="34" charset="-122"/>
                <a:cs typeface="Calibri" pitchFamily="34" charset="-120"/>
              </a:rPr>
              <a:t>Détecter automatiquement les surfaces réellement inondées sur images satellite Sentinel-1, pour valider et enrichir le modèle avec des observations de terrain.</a:t>
            </a:r>
            <a:endParaRPr lang="en-US" sz="1350" dirty="0"/>
          </a:p>
        </p:txBody>
      </p:sp>
      <p:sp>
        <p:nvSpPr>
          <p:cNvPr id="10" name="Shape 8"/>
          <p:cNvSpPr/>
          <p:nvPr/>
        </p:nvSpPr>
        <p:spPr>
          <a:xfrm>
            <a:off x="7772400" y="1920240"/>
            <a:ext cx="3429000" cy="3657600"/>
          </a:xfrm>
          <a:prstGeom prst="roundRect">
            <a:avLst>
              <a:gd name="adj" fmla="val 2667"/>
            </a:avLst>
          </a:prstGeom>
          <a:solidFill>
            <a:srgbClr val="FFFFFF"/>
          </a:solidFill>
          <a:ln w="12700">
            <a:solidFill>
              <a:srgbClr val="E3E6E4"/>
            </a:solidFill>
            <a:prstDash val="solid"/>
          </a:ln>
        </p:spPr>
      </p:sp>
      <p:sp>
        <p:nvSpPr>
          <p:cNvPr id="11" name="Text 9"/>
          <p:cNvSpPr/>
          <p:nvPr/>
        </p:nvSpPr>
        <p:spPr>
          <a:xfrm>
            <a:off x="8046720" y="2194560"/>
            <a:ext cx="2880360" cy="640080"/>
          </a:xfrm>
          <a:prstGeom prst="rect">
            <a:avLst/>
          </a:prstGeom>
          <a:noFill/>
          <a:ln/>
        </p:spPr>
        <p:txBody>
          <a:bodyPr wrap="square" rtlCol="0" anchor="ctr"/>
          <a:lstStyle/>
          <a:p>
            <a:pPr indent="0" marL="0">
              <a:buNone/>
            </a:pPr>
            <a:r>
              <a:rPr lang="en-US" sz="1800" b="1" dirty="0">
                <a:solidFill>
                  <a:srgbClr val="2563A8"/>
                </a:solidFill>
                <a:latin typeface="Cambria" pitchFamily="34" charset="0"/>
                <a:ea typeface="Cambria" pitchFamily="34" charset="-122"/>
                <a:cs typeface="Cambria" pitchFamily="34" charset="-120"/>
              </a:rPr>
              <a:t>Tableau de bord d'alerte</a:t>
            </a:r>
            <a:endParaRPr lang="en-US" sz="1800" dirty="0"/>
          </a:p>
        </p:txBody>
      </p:sp>
      <p:sp>
        <p:nvSpPr>
          <p:cNvPr id="12" name="Text 10"/>
          <p:cNvSpPr/>
          <p:nvPr/>
        </p:nvSpPr>
        <p:spPr>
          <a:xfrm>
            <a:off x="8046720" y="2926080"/>
            <a:ext cx="2880360" cy="2377440"/>
          </a:xfrm>
          <a:prstGeom prst="rect">
            <a:avLst/>
          </a:prstGeom>
          <a:noFill/>
          <a:ln/>
        </p:spPr>
        <p:txBody>
          <a:bodyPr wrap="square" rtlCol="0" anchor="ctr"/>
          <a:lstStyle/>
          <a:p>
            <a:pPr indent="0" marL="0">
              <a:lnSpc>
                <a:spcPts val="1900"/>
              </a:lnSpc>
              <a:buNone/>
            </a:pPr>
            <a:r>
              <a:rPr lang="en-US" sz="1350" dirty="0">
                <a:solidFill>
                  <a:srgbClr val="525D6B"/>
                </a:solidFill>
                <a:latin typeface="Calibri" pitchFamily="34" charset="0"/>
                <a:ea typeface="Calibri" pitchFamily="34" charset="-122"/>
                <a:cs typeface="Calibri" pitchFamily="34" charset="-120"/>
              </a:rPr>
              <a:t>Construire un dashboard (Streamlit) alimenté par les prévisions météo de l'ANACIM, pour une alerte en continu plutôt qu'un scénario figé.</a:t>
            </a:r>
            <a:endParaRPr lang="en-US" sz="1350" dirty="0"/>
          </a:p>
        </p:txBody>
      </p:sp>
      <p:sp>
        <p:nvSpPr>
          <p:cNvPr id="13" name="Text 11"/>
          <p:cNvSpPr/>
          <p:nvPr/>
        </p:nvSpPr>
        <p:spPr>
          <a:xfrm>
            <a:off x="11155680" y="6446520"/>
            <a:ext cx="822960" cy="274320"/>
          </a:xfrm>
          <a:prstGeom prst="rect">
            <a:avLst/>
          </a:prstGeom>
          <a:noFill/>
          <a:ln/>
        </p:spPr>
        <p:txBody>
          <a:bodyPr wrap="square" rtlCol="0" anchor="ctr"/>
          <a:lstStyle/>
          <a:p>
            <a:pPr algn="r" indent="0" marL="0">
              <a:buNone/>
            </a:pPr>
            <a:r>
              <a:rPr lang="en-US" sz="1000" dirty="0">
                <a:solidFill>
                  <a:srgbClr val="525D6B"/>
                </a:solidFill>
                <a:latin typeface="Calibri" pitchFamily="34" charset="0"/>
                <a:ea typeface="Calibri" pitchFamily="34" charset="-122"/>
                <a:cs typeface="Calibri"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640080" y="640080"/>
            <a:ext cx="10515600" cy="365760"/>
          </a:xfrm>
          <a:prstGeom prst="rect">
            <a:avLst/>
          </a:prstGeom>
          <a:noFill/>
          <a:ln/>
        </p:spPr>
        <p:txBody>
          <a:bodyPr wrap="square" rtlCol="0" anchor="ctr"/>
          <a:lstStyle/>
          <a:p>
            <a:pPr indent="0" marL="0">
              <a:buNone/>
            </a:pPr>
            <a:r>
              <a:rPr lang="en-US" sz="1300" b="1" spc="200" kern="0" dirty="0">
                <a:solidFill>
                  <a:srgbClr val="7FB2E8"/>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640080" y="1188720"/>
            <a:ext cx="9601200" cy="1005840"/>
          </a:xfrm>
          <a:prstGeom prst="rect">
            <a:avLst/>
          </a:prstGeom>
          <a:noFill/>
          <a:ln/>
        </p:spPr>
        <p:txBody>
          <a:bodyPr wrap="square" rtlCol="0" anchor="ctr"/>
          <a:lstStyle/>
          <a:p>
            <a:pPr indent="0" marL="0">
              <a:lnSpc>
                <a:spcPts val="2200"/>
              </a:lnSpc>
              <a:buNone/>
            </a:pPr>
            <a:r>
              <a:rPr lang="en-US" sz="1600" dirty="0">
                <a:solidFill>
                  <a:srgbClr val="AAB6C6"/>
                </a:solidFill>
                <a:latin typeface="Calibri" pitchFamily="34" charset="0"/>
                <a:ea typeface="Calibri" pitchFamily="34" charset="-122"/>
                <a:cs typeface="Calibri" pitchFamily="34" charset="-120"/>
              </a:rPr>
              <a:t>Données 100 % synthétiques · le scénario extrême est une extrapolation, à lire comme un classement relatif plutôt qu'une fréquence exacte.</a:t>
            </a:r>
            <a:endParaRPr lang="en-US" sz="1600" dirty="0"/>
          </a:p>
        </p:txBody>
      </p:sp>
      <p:sp>
        <p:nvSpPr>
          <p:cNvPr id="4" name="Text 2"/>
          <p:cNvSpPr/>
          <p:nvPr/>
        </p:nvSpPr>
        <p:spPr>
          <a:xfrm>
            <a:off x="640080" y="2834640"/>
            <a:ext cx="10515600" cy="14630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Merci. Questions ?</a:t>
            </a:r>
            <a:endParaRPr lang="en-US" sz="5400" dirty="0"/>
          </a:p>
        </p:txBody>
      </p:sp>
      <p:sp>
        <p:nvSpPr>
          <p:cNvPr id="5" name="Text 3"/>
          <p:cNvSpPr/>
          <p:nvPr/>
        </p:nvSpPr>
        <p:spPr>
          <a:xfrm>
            <a:off x="640080" y="6126480"/>
            <a:ext cx="10515600" cy="365760"/>
          </a:xfrm>
          <a:prstGeom prst="rect">
            <a:avLst/>
          </a:prstGeom>
          <a:noFill/>
          <a:ln/>
        </p:spPr>
        <p:txBody>
          <a:bodyPr wrap="square" rtlCol="0" anchor="ctr"/>
          <a:lstStyle/>
          <a:p>
            <a:pPr indent="0" marL="0">
              <a:buNone/>
            </a:pPr>
            <a:r>
              <a:rPr lang="en-US" sz="1300" dirty="0">
                <a:solidFill>
                  <a:srgbClr val="AAB6C6"/>
                </a:solidFill>
                <a:latin typeface="Calibri" pitchFamily="34" charset="0"/>
                <a:ea typeface="Calibri" pitchFamily="34" charset="-122"/>
                <a:cs typeface="Calibri" pitchFamily="34" charset="-120"/>
              </a:rPr>
              <a:t>Notebook · cartes interactives · rapport · livrables joints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2026-09-22T13:33:47Z</dcterms:created>
  <dcterms:modified xsi:type="dcterms:W3CDTF">2026-09-22T13:33:47Z</dcterms:modified>
</cp:coreProperties>
</file>